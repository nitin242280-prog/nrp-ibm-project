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56" r:id="rId2"/>
    <p:sldId id="257" r:id="rId3"/>
    <p:sldId id="258" r:id="rId4"/>
    <p:sldId id="271" r:id="rId5"/>
    <p:sldId id="259" r:id="rId6"/>
    <p:sldId id="260" r:id="rId7"/>
    <p:sldId id="261" r:id="rId8"/>
    <p:sldId id="262" r:id="rId9"/>
    <p:sldId id="263" r:id="rId10"/>
    <p:sldId id="264" r:id="rId11"/>
    <p:sldId id="265" r:id="rId12"/>
    <p:sldId id="266" r:id="rId13"/>
    <p:sldId id="267" r:id="rId14"/>
    <p:sldId id="268" r:id="rId15"/>
    <p:sldId id="269" r:id="rId16"/>
    <p:sldId id="272" r:id="rId17"/>
    <p:sldId id="274" r:id="rId18"/>
    <p:sldId id="273" r:id="rId19"/>
    <p:sldId id="270"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2" roundtripDataSignature="AMtx7mghOvm2EZ50R9dUsIjQzxxGQymfN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2DA409A-753F-43E9-88D9-1875949E996A}">
  <a:tblStyle styleId="{72DA409A-753F-43E9-88D9-1875949E996A}"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2" name="Google Shape;92;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8" name="Google Shape;98;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 name="Google Shape;104;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0" name="Google Shape;110;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2" name="Google Shape;122;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8" name="Google Shape;12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4" name="Google Shape;13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1" name="Google Shape;141;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7" name="Google Shape;147;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8" name="Google Shape;158;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4" name="Google Shape;164;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3" name="Google Shape;173;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4" name="Google Shape;184;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a:extLst>
            <a:ext uri="{FF2B5EF4-FFF2-40B4-BE49-F238E27FC236}">
              <a16:creationId xmlns:a16="http://schemas.microsoft.com/office/drawing/2014/main" id="{65B9F116-A672-91BE-AC3B-EBF731F97A40}"/>
            </a:ext>
          </a:extLst>
        </p:cNvPr>
        <p:cNvGrpSpPr/>
        <p:nvPr/>
      </p:nvGrpSpPr>
      <p:grpSpPr>
        <a:xfrm>
          <a:off x="0" y="0"/>
          <a:ext cx="0" cy="0"/>
          <a:chOff x="0" y="0"/>
          <a:chExt cx="0" cy="0"/>
        </a:xfrm>
      </p:grpSpPr>
      <p:sp>
        <p:nvSpPr>
          <p:cNvPr id="183" name="Google Shape;183;p43:notes">
            <a:extLst>
              <a:ext uri="{FF2B5EF4-FFF2-40B4-BE49-F238E27FC236}">
                <a16:creationId xmlns:a16="http://schemas.microsoft.com/office/drawing/2014/main" id="{D6E17B8A-8CAB-104F-CC01-8BEBFABC270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4" name="Google Shape;184;p43:notes">
            <a:extLst>
              <a:ext uri="{FF2B5EF4-FFF2-40B4-BE49-F238E27FC236}">
                <a16:creationId xmlns:a16="http://schemas.microsoft.com/office/drawing/2014/main" id="{063274F1-F574-0BCF-5206-C9A747B8C4A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627383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1" name="Google Shape;191;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2" name="Google Shape;182;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dirty="0"/>
              <a:t>IBM University Engagement Project Submission</a:t>
            </a:r>
            <a:br>
              <a:rPr lang="en-US" b="1" dirty="0"/>
            </a:br>
            <a:endParaRPr dirty="0"/>
          </a:p>
        </p:txBody>
      </p:sp>
      <p:sp>
        <p:nvSpPr>
          <p:cNvPr id="79" name="Google Shape;79;p33"/>
          <p:cNvSpPr txBox="1">
            <a:spLocks noGrp="1"/>
          </p:cNvSpPr>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r>
              <a:rPr lang="en-US" b="1" i="1" dirty="0"/>
              <a:t>“Exploring the Power of Agentic AI with IBM Granite and </a:t>
            </a:r>
            <a:r>
              <a:rPr lang="en-US" b="1" i="1" dirty="0" err="1"/>
              <a:t>LangFlow</a:t>
            </a:r>
            <a:r>
              <a:rPr lang="en-US" b="1" i="1" dirty="0"/>
              <a:t>”</a:t>
            </a:r>
          </a:p>
          <a:p>
            <a:pPr marL="457200" lvl="0" indent="-228600" algn="ctr" rtl="0">
              <a:lnSpc>
                <a:spcPct val="90000"/>
              </a:lnSpc>
              <a:spcBef>
                <a:spcPts val="1000"/>
              </a:spcBef>
              <a:spcAft>
                <a:spcPts val="0"/>
              </a:spcAft>
              <a:buSzPts val="2400"/>
              <a:buNone/>
            </a:pPr>
            <a:endParaRPr lang="en-US" b="1" i="1" dirty="0"/>
          </a:p>
          <a:p>
            <a:pPr marL="457200" lvl="0" indent="-228600" algn="ctr" rtl="0">
              <a:lnSpc>
                <a:spcPct val="90000"/>
              </a:lnSpc>
              <a:spcBef>
                <a:spcPts val="1000"/>
              </a:spcBef>
              <a:spcAft>
                <a:spcPts val="0"/>
              </a:spcAft>
              <a:buSzPts val="2400"/>
              <a:buNone/>
            </a:pPr>
            <a:endParaRPr dirty="0"/>
          </a:p>
        </p:txBody>
      </p:sp>
      <p:sp>
        <p:nvSpPr>
          <p:cNvPr id="2" name="Google Shape;79;p33">
            <a:extLst>
              <a:ext uri="{FF2B5EF4-FFF2-40B4-BE49-F238E27FC236}">
                <a16:creationId xmlns:a16="http://schemas.microsoft.com/office/drawing/2014/main" id="{5F69C1D8-3CCC-423A-D0AE-CFCBB28F82FE}"/>
              </a:ext>
            </a:extLst>
          </p:cNvPr>
          <p:cNvSpPr txBox="1">
            <a:spLocks/>
          </p:cNvSpPr>
          <p:nvPr/>
        </p:nvSpPr>
        <p:spPr>
          <a:xfrm>
            <a:off x="831850" y="4653756"/>
            <a:ext cx="10515600" cy="871973"/>
          </a:xfrm>
          <a:prstGeom prst="rect">
            <a:avLst/>
          </a:prstGeom>
          <a:noFill/>
          <a:ln>
            <a:noFill/>
          </a:ln>
        </p:spPr>
        <p:txBody>
          <a:bodyPr spcFirstLastPara="1" wrap="square" lIns="91425" tIns="45700" rIns="91425" bIns="45700" anchor="t" anchorCtr="0">
            <a:normAutofit fontScale="92500"/>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pPr algn="ctr"/>
            <a:r>
              <a:rPr lang="en-US" sz="2800" b="1" dirty="0">
                <a:solidFill>
                  <a:srgbClr val="002060"/>
                </a:solidFill>
              </a:rPr>
              <a:t>Problem Statement No.22: Smart IoT Device Troubleshooting Chatbot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1801801369"/>
              </p:ext>
            </p:extLst>
          </p:nvPr>
        </p:nvGraphicFramePr>
        <p:xfrm>
          <a:off x="1347019" y="2610147"/>
          <a:ext cx="9347238" cy="2167125"/>
        </p:xfrm>
        <a:graphic>
          <a:graphicData uri="http://schemas.openxmlformats.org/drawingml/2006/table">
            <a:tbl>
              <a:tblPr>
                <a:noFill/>
                <a:tableStyleId>{72DA409A-753F-43E9-88D9-1875949E996A}</a:tableStyleId>
              </a:tblPr>
              <a:tblGrid>
                <a:gridCol w="2017113">
                  <a:extLst>
                    <a:ext uri="{9D8B030D-6E8A-4147-A177-3AD203B41FA5}">
                      <a16:colId xmlns:a16="http://schemas.microsoft.com/office/drawing/2014/main" val="20000"/>
                    </a:ext>
                  </a:extLst>
                </a:gridCol>
                <a:gridCol w="2443375">
                  <a:extLst>
                    <a:ext uri="{9D8B030D-6E8A-4147-A177-3AD203B41FA5}">
                      <a16:colId xmlns:a16="http://schemas.microsoft.com/office/drawing/2014/main" val="20001"/>
                    </a:ext>
                  </a:extLst>
                </a:gridCol>
                <a:gridCol w="2443375">
                  <a:extLst>
                    <a:ext uri="{9D8B030D-6E8A-4147-A177-3AD203B41FA5}">
                      <a16:colId xmlns:a16="http://schemas.microsoft.com/office/drawing/2014/main" val="20002"/>
                    </a:ext>
                  </a:extLst>
                </a:gridCol>
                <a:gridCol w="2443375">
                  <a:extLst>
                    <a:ext uri="{9D8B030D-6E8A-4147-A177-3AD203B41FA5}">
                      <a16:colId xmlns:a16="http://schemas.microsoft.com/office/drawing/2014/main" val="20003"/>
                    </a:ext>
                  </a:extLst>
                </a:gridCol>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Recent Passport Photo</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Mobile number</a:t>
                      </a: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[WhatsApp]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900">
                <a:tc>
                  <a:txBody>
                    <a:bodyPr/>
                    <a:lstStyle/>
                    <a:p>
                      <a:pPr marL="0" marR="0" lvl="0" indent="0" algn="ctr" rtl="0">
                        <a:lnSpc>
                          <a:spcPct val="100000"/>
                        </a:lnSpc>
                        <a:spcBef>
                          <a:spcPts val="0"/>
                        </a:spcBef>
                        <a:spcAft>
                          <a:spcPts val="0"/>
                        </a:spcAft>
                        <a:buClr>
                          <a:srgbClr val="000000"/>
                        </a:buClr>
                        <a:buSzPts val="1800"/>
                        <a:buFont typeface="Arial"/>
                        <a:buNone/>
                      </a:pPr>
                      <a:endParaRPr lang="en-IN"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dirty="0">
                          <a:solidFill>
                            <a:srgbClr val="000000"/>
                          </a:solidFill>
                          <a:latin typeface="Arial"/>
                          <a:cs typeface="Arial"/>
                          <a:sym typeface="Arial"/>
                        </a:rPr>
                        <a:t>Nitin Patel</a:t>
                      </a:r>
                      <a:endParaRPr sz="1800" b="0" i="0" u="none" strike="noStrike" cap="none" dirty="0">
                        <a:solidFill>
                          <a:srgbClr val="000000"/>
                        </a:solidFill>
                        <a:latin typeface="Arial"/>
                        <a:cs typeface="Arial"/>
                        <a:sym typeface="Arial"/>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lang="en-IN" sz="1400" u="none" strike="noStrike" cap="none" dirty="0"/>
                    </a:p>
                    <a:p>
                      <a:pPr marL="0" marR="0" lvl="0" indent="0" algn="l" rtl="0">
                        <a:lnSpc>
                          <a:spcPct val="100000"/>
                        </a:lnSpc>
                        <a:spcBef>
                          <a:spcPts val="0"/>
                        </a:spcBef>
                        <a:spcAft>
                          <a:spcPts val="0"/>
                        </a:spcAft>
                        <a:buClr>
                          <a:srgbClr val="000000"/>
                        </a:buClr>
                        <a:buSzPts val="1400"/>
                        <a:buFont typeface="Arial"/>
                        <a:buNone/>
                      </a:pPr>
                      <a:endParaRPr lang="en-IN" sz="1400" u="none" strike="noStrike" cap="none" dirty="0"/>
                    </a:p>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dirty="0">
                          <a:solidFill>
                            <a:srgbClr val="000000"/>
                          </a:solidFill>
                          <a:latin typeface="Arial"/>
                          <a:cs typeface="Arial"/>
                          <a:sym typeface="Arial"/>
                        </a:rPr>
                        <a:t>nrpatel@mbit.edu.in</a:t>
                      </a:r>
                      <a:endParaRPr sz="1800" b="0" i="0" u="none" strike="noStrike" cap="none" dirty="0">
                        <a:solidFill>
                          <a:srgbClr val="000000"/>
                        </a:solidFill>
                        <a:latin typeface="Arial"/>
                        <a:cs typeface="Arial"/>
                        <a:sym typeface="Arial"/>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lang="en-IN" sz="1400" u="none" strike="noStrike" cap="none" dirty="0"/>
                    </a:p>
                    <a:p>
                      <a:pPr marL="0" marR="0" lvl="0" indent="0" algn="l" rtl="0">
                        <a:lnSpc>
                          <a:spcPct val="100000"/>
                        </a:lnSpc>
                        <a:spcBef>
                          <a:spcPts val="0"/>
                        </a:spcBef>
                        <a:spcAft>
                          <a:spcPts val="0"/>
                        </a:spcAft>
                        <a:buClr>
                          <a:srgbClr val="000000"/>
                        </a:buClr>
                        <a:buSzPts val="1400"/>
                        <a:buFont typeface="Arial"/>
                        <a:buNone/>
                      </a:pPr>
                      <a:endParaRPr lang="en-IN" sz="1400" u="none" strike="noStrike" cap="none" dirty="0"/>
                    </a:p>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dirty="0">
                          <a:solidFill>
                            <a:srgbClr val="000000"/>
                          </a:solidFill>
                          <a:latin typeface="Arial"/>
                          <a:cs typeface="Arial"/>
                          <a:sym typeface="Arial"/>
                        </a:rPr>
                        <a:t>9601196919</a:t>
                      </a:r>
                      <a:endParaRPr sz="1800" b="0" i="0" u="none" strike="noStrike" cap="none" dirty="0">
                        <a:solidFill>
                          <a:srgbClr val="000000"/>
                        </a:solidFill>
                        <a:latin typeface="Arial"/>
                        <a:cs typeface="Arial"/>
                        <a:sym typeface="Arial"/>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88" name="Google Shape;88;p2"/>
          <p:cNvSpPr txBox="1"/>
          <p:nvPr/>
        </p:nvSpPr>
        <p:spPr>
          <a:xfrm>
            <a:off x="3048000" y="1460724"/>
            <a:ext cx="6263148"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Domain of  Project – </a:t>
            </a:r>
            <a:r>
              <a:rPr lang="en-US" sz="2400" b="1" i="0" u="none" strike="noStrike" cap="none" dirty="0">
                <a:solidFill>
                  <a:srgbClr val="000000"/>
                </a:solidFill>
                <a:highlight>
                  <a:srgbClr val="FFFF00"/>
                </a:highlight>
                <a:latin typeface="Arial"/>
                <a:ea typeface="Arial"/>
                <a:cs typeface="Arial"/>
                <a:sym typeface="Arial"/>
              </a:rPr>
              <a:t>IoT, Electronics, </a:t>
            </a:r>
            <a:endParaRPr sz="2400" b="1" i="0" u="none" strike="noStrike" cap="none" dirty="0">
              <a:solidFill>
                <a:srgbClr val="000000"/>
              </a:solidFill>
              <a:highlight>
                <a:srgbClr val="FFFF00"/>
              </a:highlight>
              <a:latin typeface="Arial"/>
              <a:ea typeface="Arial"/>
              <a:cs typeface="Arial"/>
              <a:sym typeface="Arial"/>
            </a:endParaRPr>
          </a:p>
        </p:txBody>
      </p:sp>
      <p:sp>
        <p:nvSpPr>
          <p:cNvPr id="89" name="Google Shape;89;p2"/>
          <p:cNvSpPr txBox="1"/>
          <p:nvPr/>
        </p:nvSpPr>
        <p:spPr>
          <a:xfrm>
            <a:off x="690624" y="551965"/>
            <a:ext cx="11088421"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Project Tile – </a:t>
            </a:r>
            <a:r>
              <a:rPr lang="en-US" sz="2400" b="1" i="0" u="none" strike="noStrike" cap="none" dirty="0">
                <a:solidFill>
                  <a:srgbClr val="000000"/>
                </a:solidFill>
                <a:highlight>
                  <a:srgbClr val="FFFF00"/>
                </a:highlight>
                <a:latin typeface="Arial"/>
                <a:ea typeface="Arial"/>
                <a:cs typeface="Arial"/>
                <a:sym typeface="Arial"/>
              </a:rPr>
              <a:t>Smart IoT Device Troubleshooting Chatbot using Agentic AI</a:t>
            </a:r>
            <a:endParaRPr sz="2400" b="1" i="0" u="none" strike="noStrike" cap="none" dirty="0">
              <a:solidFill>
                <a:srgbClr val="000000"/>
              </a:solidFill>
              <a:highlight>
                <a:srgbClr val="FFFF00"/>
              </a:highlight>
              <a:latin typeface="Arial"/>
              <a:ea typeface="Arial"/>
              <a:cs typeface="Arial"/>
              <a:sym typeface="Arial"/>
            </a:endParaRPr>
          </a:p>
        </p:txBody>
      </p:sp>
      <p:pic>
        <p:nvPicPr>
          <p:cNvPr id="3" name="Picture 2">
            <a:extLst>
              <a:ext uri="{FF2B5EF4-FFF2-40B4-BE49-F238E27FC236}">
                <a16:creationId xmlns:a16="http://schemas.microsoft.com/office/drawing/2014/main" id="{3C18018E-CEB9-ED3B-9D87-C376553317C2}"/>
              </a:ext>
            </a:extLst>
          </p:cNvPr>
          <p:cNvPicPr>
            <a:picLocks noChangeAspect="1"/>
          </p:cNvPicPr>
          <p:nvPr/>
        </p:nvPicPr>
        <p:blipFill>
          <a:blip r:embed="rId3"/>
          <a:stretch>
            <a:fillRect/>
          </a:stretch>
        </p:blipFill>
        <p:spPr>
          <a:xfrm>
            <a:off x="3873911" y="3578942"/>
            <a:ext cx="1258528" cy="118849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34"/>
          <p:cNvSpPr txBox="1"/>
          <p:nvPr/>
        </p:nvSpPr>
        <p:spPr>
          <a:xfrm>
            <a:off x="576072" y="1165753"/>
            <a:ext cx="10607040" cy="483205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Problem Statement : </a:t>
            </a:r>
          </a:p>
          <a:p>
            <a:pPr marL="0" marR="0" lvl="0" indent="0" algn="l" rtl="0">
              <a:lnSpc>
                <a:spcPct val="100000"/>
              </a:lnSpc>
              <a:spcBef>
                <a:spcPts val="0"/>
              </a:spcBef>
              <a:spcAft>
                <a:spcPts val="0"/>
              </a:spcAft>
              <a:buNone/>
            </a:pPr>
            <a:endParaRPr lang="en-US" sz="1400" b="1"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None/>
            </a:pPr>
            <a:r>
              <a:rPr lang="en-US" b="1" dirty="0"/>
              <a:t>		</a:t>
            </a:r>
            <a:r>
              <a:rPr lang="en-US" dirty="0"/>
              <a:t>Modern IoT environments consist of numerous interconnected devices such as sensors, smart appliances, industrial equipment, and embedded systems. When these devices experience issues such as connectivity failures, sensor malfunctions, firmware errors, battery problems, or configuration errors, troubleshooting often requires technical expertise and significant manual effort. Traditional support systems rely on static FAQs, documentation, or human technicians, which can result in delayed issue resolution, increased operational costs, and prolonged device downtime. There is a need for an intelligent, autonomous, and context-aware troubleshooting assistant capable of diagnosing IoT device issues, suggesting corrective actions, and guiding users through the resolution process in real time.</a:t>
            </a:r>
          </a:p>
          <a:p>
            <a:pPr marL="0" marR="0" lvl="0" indent="0" algn="just" rtl="0">
              <a:lnSpc>
                <a:spcPct val="100000"/>
              </a:lnSpc>
              <a:spcBef>
                <a:spcPts val="0"/>
              </a:spcBef>
              <a:spcAft>
                <a:spcPts val="0"/>
              </a:spcAft>
              <a:buNone/>
            </a:pPr>
            <a:endParaRPr lang="en-US" dirty="0"/>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The Challenge</a:t>
            </a:r>
            <a:r>
              <a:rPr lang="en-US" dirty="0"/>
              <a:t> :</a:t>
            </a:r>
          </a:p>
          <a:p>
            <a:pPr marL="342900" marR="0" lvl="0" indent="-342900" algn="l" rtl="0">
              <a:lnSpc>
                <a:spcPct val="100000"/>
              </a:lnSpc>
              <a:spcBef>
                <a:spcPts val="0"/>
              </a:spcBef>
              <a:spcAft>
                <a:spcPts val="0"/>
              </a:spcAft>
              <a:buAutoNum type="arabicPeriod"/>
            </a:pPr>
            <a:r>
              <a:rPr lang="en-US" sz="1400" b="0" i="0" u="none" strike="noStrike" cap="none" dirty="0">
                <a:solidFill>
                  <a:srgbClr val="000000"/>
                </a:solidFill>
                <a:latin typeface="Arial"/>
                <a:ea typeface="Arial"/>
                <a:cs typeface="Arial"/>
                <a:sym typeface="Arial"/>
              </a:rPr>
              <a:t>Diverse IoT Devices like Different manufacturers Different communication protocols, Different error formats</a:t>
            </a:r>
          </a:p>
          <a:p>
            <a:pPr marL="342900" marR="0" lvl="0" indent="-342900" algn="l" rtl="0">
              <a:lnSpc>
                <a:spcPct val="100000"/>
              </a:lnSpc>
              <a:spcBef>
                <a:spcPts val="0"/>
              </a:spcBef>
              <a:spcAft>
                <a:spcPts val="0"/>
              </a:spcAft>
              <a:buAutoNum type="arabicPeriod"/>
            </a:pPr>
            <a:r>
              <a:rPr lang="en-US" sz="1400" b="0" i="0" u="none" strike="noStrike" cap="none" dirty="0">
                <a:solidFill>
                  <a:srgbClr val="000000"/>
                </a:solidFill>
                <a:latin typeface="Arial"/>
                <a:ea typeface="Arial"/>
                <a:cs typeface="Arial"/>
                <a:sym typeface="Arial"/>
              </a:rPr>
              <a:t>Real-Time Diagnostics Needed like for immediate analysis, Handling streaming device data</a:t>
            </a:r>
          </a:p>
          <a:p>
            <a:pPr marL="342900" marR="0" lvl="0" indent="-342900" algn="l" rtl="0">
              <a:lnSpc>
                <a:spcPct val="100000"/>
              </a:lnSpc>
              <a:spcBef>
                <a:spcPts val="0"/>
              </a:spcBef>
              <a:spcAft>
                <a:spcPts val="0"/>
              </a:spcAft>
              <a:buAutoNum type="arabicPeriod"/>
            </a:pPr>
            <a:r>
              <a:rPr lang="en-US" sz="1400" b="0" i="0" u="none" strike="noStrike" cap="none" dirty="0">
                <a:solidFill>
                  <a:srgbClr val="000000"/>
                </a:solidFill>
                <a:latin typeface="Arial"/>
                <a:ea typeface="Arial"/>
                <a:cs typeface="Arial"/>
                <a:sym typeface="Arial"/>
              </a:rPr>
              <a:t>Knowledge Retrieval- Accessing large troubleshooting knowledge bases, Retrieving relevant solutions accurately</a:t>
            </a:r>
          </a:p>
          <a:p>
            <a:pPr marL="342900" marR="0" lvl="0" indent="-342900" algn="l" rtl="0">
              <a:lnSpc>
                <a:spcPct val="100000"/>
              </a:lnSpc>
              <a:spcBef>
                <a:spcPts val="0"/>
              </a:spcBef>
              <a:spcAft>
                <a:spcPts val="0"/>
              </a:spcAft>
              <a:buAutoNum type="arabicPeriod"/>
            </a:pPr>
            <a:r>
              <a:rPr lang="en-US" sz="1400" b="0" i="0" u="none" strike="noStrike" cap="none" dirty="0">
                <a:solidFill>
                  <a:srgbClr val="000000"/>
                </a:solidFill>
                <a:latin typeface="Arial"/>
                <a:ea typeface="Arial"/>
                <a:cs typeface="Arial"/>
                <a:sym typeface="Arial"/>
              </a:rPr>
              <a:t>Multi-Step Reasoning- Diagnosing complex failures often requires multiple steps, Agent coordination is required</a:t>
            </a:r>
          </a:p>
          <a:p>
            <a:pPr marL="342900" marR="0" lvl="0" indent="-342900" algn="l" rtl="0">
              <a:lnSpc>
                <a:spcPct val="100000"/>
              </a:lnSpc>
              <a:spcBef>
                <a:spcPts val="0"/>
              </a:spcBef>
              <a:spcAft>
                <a:spcPts val="0"/>
              </a:spcAft>
              <a:buAutoNum type="arabicPeriod"/>
            </a:pPr>
            <a:r>
              <a:rPr lang="en-US" sz="1400" b="0" i="0" u="none" strike="noStrike" cap="none" dirty="0">
                <a:solidFill>
                  <a:srgbClr val="000000"/>
                </a:solidFill>
                <a:latin typeface="Arial"/>
                <a:ea typeface="Arial"/>
                <a:cs typeface="Arial"/>
                <a:sym typeface="Arial"/>
              </a:rPr>
              <a:t>Data Integration- Integrating logs, sensors, and device status information</a:t>
            </a:r>
          </a:p>
          <a:p>
            <a:pPr marL="342900" marR="0" lvl="0" indent="-342900" algn="l" rtl="0">
              <a:lnSpc>
                <a:spcPct val="100000"/>
              </a:lnSpc>
              <a:spcBef>
                <a:spcPts val="0"/>
              </a:spcBef>
              <a:spcAft>
                <a:spcPts val="0"/>
              </a:spcAft>
              <a:buAutoNum type="arabicPeriod"/>
            </a:pPr>
            <a:r>
              <a:rPr lang="en-US" sz="1400" b="0" i="0" u="none" strike="noStrike" cap="none" dirty="0">
                <a:solidFill>
                  <a:srgbClr val="000000"/>
                </a:solidFill>
                <a:latin typeface="Arial"/>
                <a:ea typeface="Arial"/>
                <a:cs typeface="Arial"/>
                <a:sym typeface="Arial"/>
              </a:rPr>
              <a:t>Context Management- Maintaining conversation history, Understanding previous troubleshooting attempts</a:t>
            </a:r>
          </a:p>
          <a:p>
            <a:pPr marL="342900" marR="0" lvl="0" indent="-342900" algn="l" rtl="0">
              <a:lnSpc>
                <a:spcPct val="100000"/>
              </a:lnSpc>
              <a:spcBef>
                <a:spcPts val="0"/>
              </a:spcBef>
              <a:spcAft>
                <a:spcPts val="0"/>
              </a:spcAft>
              <a:buAutoNum type="arabicPeriod"/>
            </a:pPr>
            <a:r>
              <a:rPr lang="en-US" sz="1400" b="0" i="0" u="none" strike="noStrike" cap="none" dirty="0">
                <a:solidFill>
                  <a:srgbClr val="000000"/>
                </a:solidFill>
                <a:latin typeface="Arial"/>
                <a:ea typeface="Arial"/>
                <a:cs typeface="Arial"/>
                <a:sym typeface="Arial"/>
              </a:rPr>
              <a:t>Scalability- Supporting thousands of IoT devices simultaneously</a:t>
            </a:r>
          </a:p>
          <a:p>
            <a:pPr marL="342900" marR="0" lvl="0" indent="-342900" algn="l" rtl="0">
              <a:lnSpc>
                <a:spcPct val="100000"/>
              </a:lnSpc>
              <a:spcBef>
                <a:spcPts val="0"/>
              </a:spcBef>
              <a:spcAft>
                <a:spcPts val="0"/>
              </a:spcAft>
              <a:buAutoNum type="arabicPeriod"/>
            </a:pPr>
            <a:r>
              <a:rPr lang="en-US" sz="1400" b="0" i="0" u="none" strike="noStrike" cap="none" dirty="0">
                <a:solidFill>
                  <a:srgbClr val="000000"/>
                </a:solidFill>
                <a:latin typeface="Arial"/>
                <a:ea typeface="Arial"/>
                <a:cs typeface="Arial"/>
                <a:sym typeface="Arial"/>
              </a:rPr>
              <a:t>Explainability- Providing understandable reasoning behind recommendations</a:t>
            </a:r>
          </a:p>
          <a:p>
            <a:pPr marL="342900" marR="0" lvl="0" indent="-342900" algn="l" rtl="0">
              <a:lnSpc>
                <a:spcPct val="100000"/>
              </a:lnSpc>
              <a:spcBef>
                <a:spcPts val="0"/>
              </a:spcBef>
              <a:spcAft>
                <a:spcPts val="0"/>
              </a:spcAft>
              <a:buAutoNum type="arabicPeriod"/>
            </a:pPr>
            <a:r>
              <a:rPr lang="en-US" sz="1400" b="0" i="0" u="none" strike="noStrike" cap="none" dirty="0">
                <a:solidFill>
                  <a:srgbClr val="000000"/>
                </a:solidFill>
                <a:latin typeface="Arial"/>
                <a:ea typeface="Arial"/>
                <a:cs typeface="Arial"/>
                <a:sym typeface="Arial"/>
              </a:rPr>
              <a:t>Security and Privacy- Protecting device information, Secure communication between chatbot and IoT systems</a:t>
            </a:r>
          </a:p>
          <a:p>
            <a:pPr marL="342900" marR="0" lvl="0" indent="-342900" algn="l" rtl="0">
              <a:lnSpc>
                <a:spcPct val="100000"/>
              </a:lnSpc>
              <a:spcBef>
                <a:spcPts val="0"/>
              </a:spcBef>
              <a:spcAft>
                <a:spcPts val="0"/>
              </a:spcAft>
              <a:buAutoNum type="arabicPeriod"/>
            </a:pPr>
            <a:r>
              <a:rPr lang="en-US" sz="1400" b="0" i="0" u="none" strike="noStrike" cap="none" dirty="0">
                <a:solidFill>
                  <a:srgbClr val="000000"/>
                </a:solidFill>
                <a:latin typeface="Arial"/>
                <a:ea typeface="Arial"/>
                <a:cs typeface="Arial"/>
                <a:sym typeface="Arial"/>
              </a:rPr>
              <a:t>Handling Uncertainty- Incomplete logs, Missing sensor data, Ambiguous user descriptions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95" name="Google Shape;95;p34"/>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Problem Statement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919BF95-AA73-4956-28B6-2317FEEBE8DB}"/>
              </a:ext>
            </a:extLst>
          </p:cNvPr>
          <p:cNvSpPr>
            <a:spLocks noGrp="1"/>
          </p:cNvSpPr>
          <p:nvPr>
            <p:ph type="body" idx="1"/>
          </p:nvPr>
        </p:nvSpPr>
        <p:spPr>
          <a:xfrm>
            <a:off x="838200" y="1376516"/>
            <a:ext cx="10515600" cy="4758813"/>
          </a:xfrm>
        </p:spPr>
        <p:txBody>
          <a:bodyPr>
            <a:normAutofit/>
          </a:bodyPr>
          <a:lstStyle/>
          <a:p>
            <a:pPr marL="0" indent="0">
              <a:lnSpc>
                <a:spcPct val="100000"/>
              </a:lnSpc>
              <a:spcBef>
                <a:spcPts val="0"/>
              </a:spcBef>
              <a:buClr>
                <a:srgbClr val="000000"/>
              </a:buClr>
              <a:buFont typeface="Arial"/>
              <a:buNone/>
            </a:pPr>
            <a:r>
              <a:rPr lang="en-US" sz="1800" b="1" dirty="0">
                <a:solidFill>
                  <a:srgbClr val="000000"/>
                </a:solidFill>
                <a:latin typeface="Arial"/>
                <a:cs typeface="Arial"/>
                <a:sym typeface="Arial"/>
              </a:rPr>
              <a:t>The Objectives:  </a:t>
            </a:r>
          </a:p>
          <a:p>
            <a:r>
              <a:rPr lang="en-IN" sz="1600" dirty="0">
                <a:latin typeface="+mn-lt"/>
              </a:rPr>
              <a:t>Develop an intelligent Agentic AI chatbot that can automatically diagnose and troubleshoot IoT device issues through natural language interaction.</a:t>
            </a:r>
            <a:endParaRPr lang="en-IN" sz="1600" b="1" dirty="0">
              <a:latin typeface="+mn-lt"/>
            </a:endParaRPr>
          </a:p>
          <a:p>
            <a:r>
              <a:rPr lang="en-IN" sz="1600" dirty="0">
                <a:latin typeface="+mn-lt"/>
              </a:rPr>
              <a:t>Automate IoT device troubleshooting. </a:t>
            </a:r>
          </a:p>
          <a:p>
            <a:r>
              <a:rPr lang="en-IN" sz="1600" dirty="0">
                <a:latin typeface="+mn-lt"/>
              </a:rPr>
              <a:t>Provide real-time troubleshooting guidance. </a:t>
            </a:r>
          </a:p>
          <a:p>
            <a:r>
              <a:rPr lang="en-IN" sz="1600" dirty="0">
                <a:latin typeface="+mn-lt"/>
              </a:rPr>
              <a:t>Reduce device downtime. </a:t>
            </a:r>
          </a:p>
          <a:p>
            <a:r>
              <a:rPr lang="en-IN" sz="1600" dirty="0">
                <a:latin typeface="+mn-lt"/>
              </a:rPr>
              <a:t>Improve user experience. </a:t>
            </a:r>
          </a:p>
          <a:p>
            <a:r>
              <a:rPr lang="en-IN" sz="1600" dirty="0">
                <a:latin typeface="+mn-lt"/>
              </a:rPr>
              <a:t>Enable multi-step reasoning using AI agents. </a:t>
            </a:r>
          </a:p>
          <a:p>
            <a:r>
              <a:rPr lang="en-IN" sz="1600" dirty="0">
                <a:latin typeface="+mn-lt"/>
              </a:rPr>
              <a:t>Integrate IBM Granite Models for intelligent diagnosis. </a:t>
            </a:r>
          </a:p>
          <a:p>
            <a:r>
              <a:rPr lang="en-IN" sz="1600" dirty="0">
                <a:latin typeface="+mn-lt"/>
              </a:rPr>
              <a:t>Use </a:t>
            </a:r>
            <a:r>
              <a:rPr lang="en-IN" sz="1600" dirty="0" err="1">
                <a:latin typeface="+mn-lt"/>
              </a:rPr>
              <a:t>LangFlow</a:t>
            </a:r>
            <a:r>
              <a:rPr lang="en-IN" sz="1600" dirty="0">
                <a:latin typeface="+mn-lt"/>
              </a:rPr>
              <a:t> to orchestrate agent workflows. </a:t>
            </a:r>
          </a:p>
          <a:p>
            <a:r>
              <a:rPr lang="en-IN" sz="1600" dirty="0">
                <a:latin typeface="+mn-lt"/>
              </a:rPr>
              <a:t>Generate detailed troubleshooting reports. </a:t>
            </a:r>
          </a:p>
          <a:p>
            <a:r>
              <a:rPr lang="en-IN" sz="1600" dirty="0">
                <a:latin typeface="+mn-lt"/>
              </a:rPr>
              <a:t>Support multiple IoT device categories. </a:t>
            </a:r>
          </a:p>
          <a:p>
            <a:r>
              <a:rPr lang="en-IN" sz="1600" dirty="0">
                <a:latin typeface="+mn-lt"/>
              </a:rPr>
              <a:t>Reduce dependency on human support teams.</a:t>
            </a:r>
          </a:p>
          <a:p>
            <a:endParaRPr lang="en-IN" dirty="0"/>
          </a:p>
        </p:txBody>
      </p:sp>
    </p:spTree>
    <p:extLst>
      <p:ext uri="{BB962C8B-B14F-4D97-AF65-F5344CB8AC3E}">
        <p14:creationId xmlns:p14="http://schemas.microsoft.com/office/powerpoint/2010/main" val="21592527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35"/>
          <p:cNvSpPr txBox="1"/>
          <p:nvPr/>
        </p:nvSpPr>
        <p:spPr>
          <a:xfrm>
            <a:off x="667497" y="1165750"/>
            <a:ext cx="11377019" cy="375483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36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3600" b="1" i="0" u="none" strike="noStrike" cap="none" dirty="0">
                <a:solidFill>
                  <a:srgbClr val="000000"/>
                </a:solidFill>
                <a:latin typeface="Arial"/>
                <a:ea typeface="Arial"/>
                <a:cs typeface="Arial"/>
                <a:sym typeface="Arial"/>
              </a:rPr>
              <a:t>Tech Stack </a:t>
            </a:r>
            <a:endParaRPr sz="3600" dirty="0"/>
          </a:p>
          <a:p>
            <a:pPr marL="285750" marR="0" lvl="0" indent="-196850" algn="l" rtl="0">
              <a:lnSpc>
                <a:spcPct val="100000"/>
              </a:lnSpc>
              <a:spcBef>
                <a:spcPts val="0"/>
              </a:spcBef>
              <a:spcAft>
                <a:spcPts val="0"/>
              </a:spcAft>
              <a:buClr>
                <a:srgbClr val="000000"/>
              </a:buClr>
              <a:buSzPts val="1400"/>
              <a:buFont typeface="Arial"/>
              <a:buNone/>
            </a:pPr>
            <a:endParaRPr sz="36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2400" b="0" i="0" u="none" strike="noStrike" cap="none" dirty="0">
                <a:solidFill>
                  <a:srgbClr val="000000"/>
                </a:solidFill>
                <a:latin typeface="Arial"/>
                <a:ea typeface="Arial"/>
                <a:cs typeface="Arial"/>
                <a:sym typeface="Arial"/>
              </a:rPr>
              <a:t>For this project I used </a:t>
            </a:r>
          </a:p>
          <a:p>
            <a:pPr marL="0" marR="0" lvl="0" indent="0" algn="l" rtl="0">
              <a:lnSpc>
                <a:spcPct val="100000"/>
              </a:lnSpc>
              <a:spcBef>
                <a:spcPts val="0"/>
              </a:spcBef>
              <a:spcAft>
                <a:spcPts val="0"/>
              </a:spcAft>
              <a:buNone/>
            </a:pPr>
            <a:r>
              <a:rPr lang="en-US" sz="3600" b="0" i="0" u="none" strike="noStrike" cap="none" dirty="0" err="1">
                <a:solidFill>
                  <a:srgbClr val="000000"/>
                </a:solidFill>
                <a:latin typeface="Arial"/>
                <a:ea typeface="Arial"/>
                <a:cs typeface="Arial"/>
                <a:sym typeface="Arial"/>
              </a:rPr>
              <a:t>LangFlow</a:t>
            </a:r>
            <a:r>
              <a:rPr lang="en-US" sz="3600" b="0" i="0" u="none" strike="noStrike" cap="none" dirty="0">
                <a:solidFill>
                  <a:srgbClr val="000000"/>
                </a:solidFill>
                <a:latin typeface="Arial"/>
                <a:ea typeface="Arial"/>
                <a:cs typeface="Arial"/>
                <a:sym typeface="Arial"/>
              </a:rPr>
              <a:t> + IBM watsonx.ai + Granite Models </a:t>
            </a:r>
            <a:endParaRPr sz="3600"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285750" marR="0" lvl="0" indent="-19685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101" name="Google Shape;101;p35"/>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Technology Used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36"/>
          <p:cNvSpPr txBox="1"/>
          <p:nvPr/>
        </p:nvSpPr>
        <p:spPr>
          <a:xfrm>
            <a:off x="890704" y="1509882"/>
            <a:ext cx="10607040" cy="433960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dirty="0">
                <a:solidFill>
                  <a:srgbClr val="000000"/>
                </a:solidFill>
                <a:latin typeface="Arial"/>
                <a:ea typeface="Arial"/>
                <a:cs typeface="Arial"/>
                <a:sym typeface="Arial"/>
              </a:rPr>
              <a:t>Proposed Solution: Smart IoT Device Troubleshooting Chatbot using Agentic AI</a:t>
            </a:r>
          </a:p>
          <a:p>
            <a:pPr marL="0" marR="0" lvl="0" indent="0" algn="l" rtl="0">
              <a:lnSpc>
                <a:spcPct val="100000"/>
              </a:lnSpc>
              <a:spcBef>
                <a:spcPts val="0"/>
              </a:spcBef>
              <a:spcAft>
                <a:spcPts val="0"/>
              </a:spcAft>
              <a:buNone/>
            </a:pPr>
            <a:endParaRPr sz="2000" dirty="0"/>
          </a:p>
          <a:p>
            <a:r>
              <a:rPr lang="en-IN" sz="2000" dirty="0"/>
              <a:t>The proposed system introduces an </a:t>
            </a:r>
            <a:r>
              <a:rPr lang="en-IN" sz="2000" b="1" dirty="0"/>
              <a:t>Agentic AI-powered chatbot</a:t>
            </a:r>
            <a:r>
              <a:rPr lang="en-IN" sz="2000" dirty="0"/>
              <a:t> capable of:</a:t>
            </a:r>
          </a:p>
          <a:p>
            <a:pPr marL="285750" indent="-285750">
              <a:buFont typeface="Arial" panose="020B0604020202020204" pitchFamily="34" charset="0"/>
              <a:buChar char="•"/>
            </a:pPr>
            <a:r>
              <a:rPr lang="en-IN" sz="2000" dirty="0"/>
              <a:t>Understanding natural language complaints </a:t>
            </a:r>
          </a:p>
          <a:p>
            <a:pPr marL="285750" indent="-285750">
              <a:buFont typeface="Arial" panose="020B0604020202020204" pitchFamily="34" charset="0"/>
              <a:buChar char="•"/>
            </a:pPr>
            <a:r>
              <a:rPr lang="en-IN" sz="2000" dirty="0"/>
              <a:t>Analysing device symptoms </a:t>
            </a:r>
          </a:p>
          <a:p>
            <a:pPr marL="285750" indent="-285750">
              <a:buFont typeface="Arial" panose="020B0604020202020204" pitchFamily="34" charset="0"/>
              <a:buChar char="•"/>
            </a:pPr>
            <a:r>
              <a:rPr lang="en-IN" sz="2000" dirty="0"/>
              <a:t>Accessing IoT device information </a:t>
            </a:r>
          </a:p>
          <a:p>
            <a:pPr marL="285750" indent="-285750">
              <a:buFont typeface="Arial" panose="020B0604020202020204" pitchFamily="34" charset="0"/>
              <a:buChar char="•"/>
            </a:pPr>
            <a:r>
              <a:rPr lang="en-IN" sz="2000" dirty="0"/>
              <a:t>Performing step-by-step diagnosis </a:t>
            </a:r>
          </a:p>
          <a:p>
            <a:pPr marL="285750" indent="-285750">
              <a:buFont typeface="Arial" panose="020B0604020202020204" pitchFamily="34" charset="0"/>
              <a:buChar char="•"/>
            </a:pPr>
            <a:r>
              <a:rPr lang="en-IN" sz="2000" dirty="0"/>
              <a:t>Recommending corrective actions </a:t>
            </a:r>
          </a:p>
          <a:p>
            <a:pPr marL="285750" indent="-285750">
              <a:buFont typeface="Arial" panose="020B0604020202020204" pitchFamily="34" charset="0"/>
              <a:buChar char="•"/>
            </a:pPr>
            <a:r>
              <a:rPr lang="en-IN" sz="2000" dirty="0"/>
              <a:t>Escalating unresolved issues </a:t>
            </a:r>
          </a:p>
          <a:p>
            <a:pPr marL="285750" indent="-285750">
              <a:buFont typeface="Arial" panose="020B0604020202020204" pitchFamily="34" charset="0"/>
              <a:buChar char="•"/>
            </a:pPr>
            <a:r>
              <a:rPr lang="en-IN" sz="2000" dirty="0"/>
              <a:t>Learning from previous troubleshooting cases </a:t>
            </a:r>
          </a:p>
          <a:p>
            <a:r>
              <a:rPr lang="en-IN" sz="2000" dirty="0"/>
              <a:t>Using </a:t>
            </a:r>
            <a:r>
              <a:rPr lang="en-IN" sz="2000" dirty="0" err="1"/>
              <a:t>LangFlow</a:t>
            </a:r>
            <a:r>
              <a:rPr lang="en-IN" sz="2000" dirty="0"/>
              <a:t>, multiple AI agents can collaborate to diagnose and resolve IoT-related problems.</a:t>
            </a:r>
          </a:p>
          <a:p>
            <a:endParaRPr lang="en-IN" sz="2000" dirty="0"/>
          </a:p>
          <a:p>
            <a:pPr marL="0" marR="0" lvl="0" indent="0" algn="l" rtl="0">
              <a:lnSpc>
                <a:spcPct val="100000"/>
              </a:lnSpc>
              <a:spcBef>
                <a:spcPts val="0"/>
              </a:spcBef>
              <a:spcAft>
                <a:spcPts val="0"/>
              </a:spcAft>
              <a:buNone/>
            </a:pPr>
            <a:endParaRPr sz="1800" b="0" i="0" u="none" strike="noStrike" cap="none" dirty="0">
              <a:solidFill>
                <a:srgbClr val="000000"/>
              </a:solidFill>
              <a:latin typeface="Arial"/>
              <a:ea typeface="Arial"/>
              <a:cs typeface="Arial"/>
              <a:sym typeface="Arial"/>
            </a:endParaRPr>
          </a:p>
        </p:txBody>
      </p:sp>
      <p:sp>
        <p:nvSpPr>
          <p:cNvPr id="107" name="Google Shape;107;p36"/>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Proposed Solution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3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Langflow</a:t>
            </a: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00000"/>
                </a:solidFill>
                <a:latin typeface="Arial"/>
                <a:ea typeface="Arial"/>
                <a:cs typeface="Arial"/>
                <a:sym typeface="Arial"/>
              </a:rPr>
              <a:t>component Used -</a:t>
            </a:r>
            <a:endParaRPr sz="2400" b="1" i="0" u="none" strike="noStrike" cap="none">
              <a:solidFill>
                <a:srgbClr val="000000"/>
              </a:solidFill>
              <a:latin typeface="Arial"/>
              <a:ea typeface="Arial"/>
              <a:cs typeface="Arial"/>
              <a:sym typeface="Arial"/>
            </a:endParaRPr>
          </a:p>
        </p:txBody>
      </p:sp>
      <p:sp>
        <p:nvSpPr>
          <p:cNvPr id="113" name="Google Shape;113;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4" name="Google Shape;114;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5" name="Google Shape;115;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6" name="Google Shape;116;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7" name="Google Shape;117;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8" name="Google Shape;118;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9" name="Google Shape;119;p37"/>
          <p:cNvSpPr txBox="1"/>
          <p:nvPr/>
        </p:nvSpPr>
        <p:spPr>
          <a:xfrm>
            <a:off x="635913" y="1146693"/>
            <a:ext cx="11294391" cy="6401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600" b="1" i="0" u="none" strike="noStrike" cap="none" dirty="0">
                <a:solidFill>
                  <a:srgbClr val="000000"/>
                </a:solidFill>
                <a:latin typeface="Arial"/>
                <a:ea typeface="Arial"/>
                <a:cs typeface="Arial"/>
                <a:sym typeface="Arial"/>
              </a:rPr>
              <a:t>1) Chat Input </a:t>
            </a:r>
            <a:r>
              <a:rPr lang="en-US" sz="1600" b="0" i="0" u="none" strike="noStrike" cap="none" dirty="0">
                <a:solidFill>
                  <a:srgbClr val="000000"/>
                </a:solidFill>
                <a:latin typeface="Arial"/>
                <a:ea typeface="Arial"/>
                <a:cs typeface="Arial"/>
                <a:sym typeface="Arial"/>
              </a:rPr>
              <a:t>– Interface where users enter their queries</a:t>
            </a:r>
            <a:r>
              <a:rPr lang="en-US" sz="1600" dirty="0"/>
              <a:t> </a:t>
            </a:r>
            <a:r>
              <a:rPr lang="en-US" sz="1600" b="0" i="0" u="none" strike="noStrike" cap="none" dirty="0">
                <a:solidFill>
                  <a:srgbClr val="000000"/>
                </a:solidFill>
                <a:latin typeface="Arial"/>
                <a:ea typeface="Arial"/>
                <a:cs typeface="Arial"/>
                <a:sym typeface="Arial"/>
              </a:rPr>
              <a:t>(text).</a:t>
            </a:r>
            <a:endParaRPr sz="1600" dirty="0"/>
          </a:p>
          <a:p>
            <a:pPr marL="0" marR="0" lvl="0" indent="0" algn="l"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600" b="1" i="0" u="none" strike="noStrike" cap="none" dirty="0">
                <a:solidFill>
                  <a:srgbClr val="000000"/>
                </a:solidFill>
                <a:latin typeface="Arial"/>
                <a:ea typeface="Arial"/>
                <a:cs typeface="Arial"/>
                <a:sym typeface="Arial"/>
              </a:rPr>
              <a:t>2) IBM </a:t>
            </a:r>
            <a:r>
              <a:rPr lang="en-US" sz="1600" b="1" i="0" u="none" strike="noStrike" cap="none" dirty="0" err="1">
                <a:solidFill>
                  <a:srgbClr val="000000"/>
                </a:solidFill>
                <a:latin typeface="Arial"/>
                <a:ea typeface="Arial"/>
                <a:cs typeface="Arial"/>
                <a:sym typeface="Arial"/>
              </a:rPr>
              <a:t>watsonx</a:t>
            </a:r>
            <a:r>
              <a:rPr lang="en-US" sz="1600" b="1" i="0" u="none" strike="noStrike" cap="none" dirty="0">
                <a:solidFill>
                  <a:srgbClr val="000000"/>
                </a:solidFill>
                <a:latin typeface="Arial"/>
                <a:ea typeface="Arial"/>
                <a:cs typeface="Arial"/>
                <a:sym typeface="Arial"/>
              </a:rPr>
              <a:t> AI Agent </a:t>
            </a:r>
            <a:r>
              <a:rPr lang="en-US" sz="1600" b="0" i="0" u="none" strike="noStrike" cap="none" dirty="0">
                <a:solidFill>
                  <a:srgbClr val="000000"/>
                </a:solidFill>
                <a:latin typeface="Arial"/>
                <a:ea typeface="Arial"/>
                <a:cs typeface="Arial"/>
                <a:sym typeface="Arial"/>
              </a:rPr>
              <a:t>- Processes user input using Granite models to generate personalized Suggestions and recommendations on IoT related problems. </a:t>
            </a:r>
            <a:endParaRPr sz="1600" dirty="0"/>
          </a:p>
          <a:p>
            <a:pPr marL="0" marR="0" lvl="0" indent="0" algn="l"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a:p>
            <a:pPr lvl="0"/>
            <a:r>
              <a:rPr lang="en-US" sz="1600" b="1" i="0" u="none" strike="noStrike" cap="none" dirty="0">
                <a:solidFill>
                  <a:srgbClr val="000000"/>
                </a:solidFill>
                <a:latin typeface="Arial"/>
                <a:ea typeface="Arial"/>
                <a:cs typeface="Arial"/>
                <a:sym typeface="Arial"/>
              </a:rPr>
              <a:t>3) Name of IBM Granite model – </a:t>
            </a:r>
            <a:r>
              <a:rPr lang="en-IN" sz="1600" dirty="0" err="1"/>
              <a:t>ibm</a:t>
            </a:r>
            <a:r>
              <a:rPr lang="en-IN" sz="1600" dirty="0"/>
              <a:t>/granite-8b-code-instruct</a:t>
            </a:r>
            <a:r>
              <a:rPr lang="en-US" sz="1600" b="0" i="0" u="none" strike="noStrike" cap="none" dirty="0">
                <a:solidFill>
                  <a:srgbClr val="000000"/>
                </a:solidFill>
                <a:latin typeface="Arial"/>
                <a:ea typeface="Arial"/>
                <a:cs typeface="Arial"/>
                <a:sym typeface="Arial"/>
              </a:rPr>
              <a:t>→ Fast, efficient for real-time </a:t>
            </a:r>
            <a:r>
              <a:rPr lang="en-US" sz="1600" dirty="0"/>
              <a:t>IoT/hardware related queries </a:t>
            </a:r>
          </a:p>
          <a:p>
            <a:pPr lvl="0"/>
            <a:endParaRPr lang="en-US" sz="1600" dirty="0"/>
          </a:p>
          <a:p>
            <a:pPr lvl="0"/>
            <a:r>
              <a:rPr lang="en-US" sz="1600" b="1" dirty="0"/>
              <a:t>4) Device Identification Agent  </a:t>
            </a:r>
            <a:r>
              <a:rPr lang="en-US" sz="1600" dirty="0"/>
              <a:t>- It is responsible for identifying device, its type, its identification Number </a:t>
            </a:r>
            <a:r>
              <a:rPr lang="en-US" sz="1600" dirty="0" err="1"/>
              <a:t>etc</a:t>
            </a:r>
            <a:r>
              <a:rPr lang="en-US" sz="1600" dirty="0"/>
              <a:t>….</a:t>
            </a:r>
          </a:p>
          <a:p>
            <a:pPr lvl="0"/>
            <a:endParaRPr lang="en-US" sz="1600" dirty="0"/>
          </a:p>
          <a:p>
            <a:pPr lvl="0"/>
            <a:r>
              <a:rPr lang="en-US" sz="1600" b="1" dirty="0"/>
              <a:t>5) </a:t>
            </a:r>
            <a:r>
              <a:rPr lang="en-IN" sz="1600" b="1" dirty="0"/>
              <a:t>Knowledge Retrieval Agent  </a:t>
            </a:r>
            <a:r>
              <a:rPr lang="en-IN" sz="1600" dirty="0"/>
              <a:t>- It is used to search Device manuals, Troubleshooting guides, FAQs, Firmware documentation etc…</a:t>
            </a:r>
          </a:p>
          <a:p>
            <a:pPr lvl="0"/>
            <a:endParaRPr lang="en-US" sz="1600" b="0" i="0" u="none" strike="noStrike" cap="none" dirty="0">
              <a:solidFill>
                <a:srgbClr val="000000"/>
              </a:solidFill>
              <a:latin typeface="Arial"/>
              <a:ea typeface="Arial"/>
              <a:cs typeface="Arial"/>
              <a:sym typeface="Arial"/>
            </a:endParaRPr>
          </a:p>
          <a:p>
            <a:pPr lvl="0"/>
            <a:r>
              <a:rPr lang="en-US" sz="1600" dirty="0"/>
              <a:t>6</a:t>
            </a:r>
            <a:r>
              <a:rPr lang="en-US" sz="1600" b="1" dirty="0"/>
              <a:t>) Troubleshooting Agent </a:t>
            </a:r>
            <a:r>
              <a:rPr lang="en-US" sz="1600" dirty="0"/>
              <a:t>– Its task is to Generate solution steps according to the query of user and retrieval knowledge from the sources..</a:t>
            </a:r>
          </a:p>
          <a:p>
            <a:pPr lvl="0"/>
            <a:endParaRPr lang="en-US" sz="16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600" b="1" i="0" u="none" strike="noStrike" cap="none" dirty="0">
                <a:solidFill>
                  <a:srgbClr val="000000"/>
                </a:solidFill>
                <a:latin typeface="Arial"/>
                <a:ea typeface="Arial"/>
                <a:cs typeface="Arial"/>
                <a:sym typeface="Arial"/>
              </a:rPr>
              <a:t>4) Chat output -</a:t>
            </a:r>
            <a:r>
              <a:rPr lang="en-US" sz="1600" b="0" i="0" u="none" strike="noStrike" cap="none" dirty="0">
                <a:solidFill>
                  <a:srgbClr val="000000"/>
                </a:solidFill>
                <a:latin typeface="Arial"/>
                <a:ea typeface="Arial"/>
                <a:cs typeface="Arial"/>
                <a:sym typeface="Arial"/>
              </a:rPr>
              <a:t>Displays AI-generated responses </a:t>
            </a:r>
            <a:r>
              <a:rPr lang="en-US" sz="1600" dirty="0"/>
              <a:t>for IoT related issues like device\wi-fi\any network related issues and </a:t>
            </a:r>
            <a:r>
              <a:rPr lang="en-US" sz="1600" b="0" i="0" u="none" strike="noStrike" cap="none" dirty="0">
                <a:solidFill>
                  <a:srgbClr val="000000"/>
                </a:solidFill>
                <a:latin typeface="Arial"/>
                <a:ea typeface="Arial"/>
                <a:cs typeface="Arial"/>
                <a:sym typeface="Arial"/>
              </a:rPr>
              <a:t>suggestions. </a:t>
            </a:r>
            <a:endParaRPr sz="1600"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5" name="Google Shape;125;p38"/>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Langflow</a:t>
            </a: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00000"/>
                </a:solidFill>
                <a:latin typeface="Arial"/>
                <a:ea typeface="Arial"/>
                <a:cs typeface="Arial"/>
                <a:sym typeface="Arial"/>
              </a:rPr>
              <a:t>workflow -</a:t>
            </a:r>
            <a:endParaRPr sz="2400" b="1" i="0" u="none" strike="noStrike" cap="none">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85ED1277-F742-AFEF-B468-DAB14EB69EF2}"/>
              </a:ext>
            </a:extLst>
          </p:cNvPr>
          <p:cNvPicPr>
            <a:picLocks noChangeAspect="1"/>
          </p:cNvPicPr>
          <p:nvPr/>
        </p:nvPicPr>
        <p:blipFill>
          <a:blip r:embed="rId3"/>
          <a:stretch>
            <a:fillRect/>
          </a:stretch>
        </p:blipFill>
        <p:spPr>
          <a:xfrm>
            <a:off x="696762" y="1151622"/>
            <a:ext cx="10798476" cy="524301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1" name="Google Shape;131;p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1" i="0" u="none" strike="noStrike" cap="none">
                <a:solidFill>
                  <a:schemeClr val="dk1"/>
                </a:solidFill>
                <a:latin typeface="Calibri"/>
                <a:ea typeface="Calibri"/>
                <a:cs typeface="Calibri"/>
                <a:sym typeface="Calibri"/>
              </a:rPr>
              <a:t>Architecture blueprint</a:t>
            </a:r>
            <a:endParaRPr sz="2400" b="0" i="0" u="none" strike="noStrike" cap="none">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FEBF4E18-44AF-127B-60EE-EE26636AAC1A}"/>
              </a:ext>
            </a:extLst>
          </p:cNvPr>
          <p:cNvPicPr>
            <a:picLocks noChangeAspect="1"/>
          </p:cNvPicPr>
          <p:nvPr/>
        </p:nvPicPr>
        <p:blipFill>
          <a:blip r:embed="rId3"/>
          <a:stretch>
            <a:fillRect/>
          </a:stretch>
        </p:blipFill>
        <p:spPr>
          <a:xfrm>
            <a:off x="1080318" y="771747"/>
            <a:ext cx="9833487" cy="5664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pic>
        <p:nvPicPr>
          <p:cNvPr id="136" name="Google Shape;13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137" name="Google Shape;137;p9"/>
          <p:cNvSpPr txBox="1"/>
          <p:nvPr/>
        </p:nvSpPr>
        <p:spPr>
          <a:xfrm>
            <a:off x="475488" y="283464"/>
            <a:ext cx="931773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Role of Agentic AI in the solution </a:t>
            </a:r>
            <a:endParaRPr sz="3200" b="1" i="0" u="none" strike="noStrike" cap="none">
              <a:solidFill>
                <a:srgbClr val="000000"/>
              </a:solidFill>
              <a:latin typeface="Arial"/>
              <a:ea typeface="Arial"/>
              <a:cs typeface="Arial"/>
              <a:sym typeface="Arial"/>
            </a:endParaRPr>
          </a:p>
        </p:txBody>
      </p:sp>
      <p:sp>
        <p:nvSpPr>
          <p:cNvPr id="138" name="Google Shape;138;p9"/>
          <p:cNvSpPr txBox="1"/>
          <p:nvPr/>
        </p:nvSpPr>
        <p:spPr>
          <a:xfrm>
            <a:off x="475488" y="1285480"/>
            <a:ext cx="7406640" cy="4832052"/>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Agentic AI </a:t>
            </a:r>
            <a:r>
              <a:rPr lang="en-US" sz="1400" i="0" u="none" strike="noStrike" cap="none" dirty="0">
                <a:solidFill>
                  <a:srgbClr val="000000"/>
                </a:solidFill>
                <a:latin typeface="Arial"/>
                <a:ea typeface="Arial"/>
                <a:cs typeface="Arial"/>
                <a:sym typeface="Arial"/>
              </a:rPr>
              <a:t>is the </a:t>
            </a:r>
            <a:r>
              <a:rPr lang="en-US" sz="1400" b="1" i="0" u="none" strike="noStrike" cap="none" dirty="0">
                <a:solidFill>
                  <a:srgbClr val="000000"/>
                </a:solidFill>
                <a:latin typeface="Arial"/>
                <a:ea typeface="Arial"/>
                <a:cs typeface="Arial"/>
                <a:sym typeface="Arial"/>
              </a:rPr>
              <a:t>core intelligence layer </a:t>
            </a:r>
            <a:r>
              <a:rPr lang="en-US" sz="1400" i="0" u="none" strike="noStrike" cap="none" dirty="0">
                <a:solidFill>
                  <a:srgbClr val="000000"/>
                </a:solidFill>
                <a:latin typeface="Arial"/>
                <a:ea typeface="Arial"/>
                <a:cs typeface="Arial"/>
                <a:sym typeface="Arial"/>
              </a:rPr>
              <a:t>of this project. Unlike a traditional chatbot that simply answers questions, Agentic AI can analyze problems, make decisions, coordinate multiple tasks, retrieve information, and generate solutions autonomously. </a:t>
            </a:r>
          </a:p>
          <a:p>
            <a:pPr marL="0" marR="0" lvl="0" indent="0" algn="just" rtl="0">
              <a:lnSpc>
                <a:spcPct val="100000"/>
              </a:lnSpc>
              <a:spcBef>
                <a:spcPts val="0"/>
              </a:spcBef>
              <a:spcAft>
                <a:spcPts val="0"/>
              </a:spcAft>
              <a:buNone/>
            </a:pPr>
            <a:endParaRPr lang="en-US" sz="1400" i="0" u="none" strike="noStrike" cap="none" dirty="0">
              <a:solidFill>
                <a:srgbClr val="000000"/>
              </a:solidFill>
              <a:latin typeface="Arial"/>
              <a:ea typeface="Arial"/>
              <a:cs typeface="Arial"/>
              <a:sym typeface="Arial"/>
            </a:endParaRPr>
          </a:p>
          <a:p>
            <a:pPr algn="just"/>
            <a:r>
              <a:rPr lang="en-US" dirty="0"/>
              <a:t>In the proposed Smart IoT Device Troubleshooting Chatbot, Agentic AI acts as a virtual IoT support engineer that helps users diagnose and resolve device issues efficiently.</a:t>
            </a:r>
          </a:p>
          <a:p>
            <a:pPr algn="just"/>
            <a:endParaRPr lang="en-US" dirty="0"/>
          </a:p>
          <a:p>
            <a:pPr algn="just"/>
            <a:r>
              <a:rPr lang="en-IN" dirty="0"/>
              <a:t>Key Roles of Agentic AI in this project is Autonomous Problem Understanding, Multi-Agent Coordination, Decision-Making and Planning and Personalized User Assistance.</a:t>
            </a:r>
          </a:p>
          <a:p>
            <a:pPr algn="just"/>
            <a:endParaRPr lang="en-IN" dirty="0"/>
          </a:p>
          <a:p>
            <a:pPr algn="just"/>
            <a:r>
              <a:rPr lang="en-IN" dirty="0"/>
              <a:t>Agentic AI transforms the chatbot from a simple question-answering system into an intelligent IoT troubleshooting assistant. It autonomously understands device issues, retrieves relevant knowledge, performs root-cause analysis, plans troubleshooting actions, coordinates multiple agents, and provides real-time conversational support, significantly reducing troubleshooting time and improving the overall user experience.</a:t>
            </a:r>
          </a:p>
          <a:p>
            <a:pPr algn="just"/>
            <a:endParaRPr lang="en-IN" dirty="0"/>
          </a:p>
          <a:p>
            <a:pPr algn="just"/>
            <a:r>
              <a:rPr lang="en-IN" dirty="0"/>
              <a:t>Agentic AI serves as the decision-making and orchestration engine of the Smart IoT Device Troubleshooting Chatbot, enabling autonomous diagnosis, knowledge retrieval, root-cause analysis, and intelligent troubleshooting of IoT device issues.</a:t>
            </a:r>
          </a:p>
          <a:p>
            <a:pPr algn="just"/>
            <a:endParaRPr lang="en-IN" dirty="0"/>
          </a:p>
          <a:p>
            <a:pPr algn="just"/>
            <a:r>
              <a:rPr lang="en-US" dirty="0"/>
              <a:t>The multi-agent approach ensures efficient task execution and accurate results.</a:t>
            </a:r>
          </a:p>
          <a:p>
            <a:pPr lvl="0" algn="just"/>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39"/>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Technology Used</a:t>
            </a:r>
            <a:endParaRPr sz="2400" b="1" i="0" u="none" strike="noStrike" cap="none">
              <a:solidFill>
                <a:srgbClr val="000000"/>
              </a:solidFill>
              <a:latin typeface="Arial"/>
              <a:ea typeface="Arial"/>
              <a:cs typeface="Arial"/>
              <a:sym typeface="Arial"/>
            </a:endParaRPr>
          </a:p>
        </p:txBody>
      </p:sp>
      <p:sp>
        <p:nvSpPr>
          <p:cNvPr id="144" name="Google Shape;144;p39"/>
          <p:cNvSpPr txBox="1"/>
          <p:nvPr/>
        </p:nvSpPr>
        <p:spPr>
          <a:xfrm>
            <a:off x="777240" y="1207008"/>
            <a:ext cx="10515600" cy="4955162"/>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dirty="0" err="1">
                <a:solidFill>
                  <a:srgbClr val="000000"/>
                </a:solidFill>
                <a:latin typeface="Arial"/>
                <a:ea typeface="Arial"/>
                <a:cs typeface="Arial"/>
                <a:sym typeface="Arial"/>
              </a:rPr>
              <a:t>Langflow</a:t>
            </a:r>
            <a:r>
              <a:rPr lang="en-US" sz="1800" b="1" i="0" u="none" strike="noStrike" cap="none" dirty="0">
                <a:solidFill>
                  <a:srgbClr val="000000"/>
                </a:solidFill>
                <a:latin typeface="Arial"/>
                <a:ea typeface="Arial"/>
                <a:cs typeface="Arial"/>
                <a:sym typeface="Arial"/>
              </a:rPr>
              <a:t> platform </a:t>
            </a:r>
            <a:r>
              <a:rPr lang="en-US" sz="1800" b="0" i="0" u="none" strike="noStrike" cap="none" dirty="0">
                <a:solidFill>
                  <a:srgbClr val="000000"/>
                </a:solidFill>
                <a:latin typeface="Arial"/>
                <a:ea typeface="Arial"/>
                <a:cs typeface="Arial"/>
                <a:sym typeface="Arial"/>
              </a:rPr>
              <a:t>-For designing and orchestrating multi-agent workflows visually</a:t>
            </a:r>
            <a:endParaRPr dirty="0"/>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lvl="0" indent="-285750">
              <a:buSzPts val="1800"/>
              <a:buFont typeface="Arial"/>
              <a:buChar char="•"/>
            </a:pPr>
            <a:r>
              <a:rPr lang="en-US" sz="1800" b="1" i="0" u="none" strike="noStrike" cap="none" dirty="0">
                <a:solidFill>
                  <a:srgbClr val="000000"/>
                </a:solidFill>
                <a:latin typeface="Arial"/>
                <a:ea typeface="Arial"/>
                <a:cs typeface="Arial"/>
                <a:sym typeface="Arial"/>
              </a:rPr>
              <a:t>IBM </a:t>
            </a:r>
            <a:r>
              <a:rPr lang="en-US" sz="1800" b="1" i="0" u="none" strike="noStrike" cap="none" dirty="0" err="1">
                <a:solidFill>
                  <a:srgbClr val="000000"/>
                </a:solidFill>
                <a:latin typeface="Arial"/>
                <a:ea typeface="Arial"/>
                <a:cs typeface="Arial"/>
                <a:sym typeface="Arial"/>
              </a:rPr>
              <a:t>Grainte</a:t>
            </a:r>
            <a:r>
              <a:rPr lang="en-US" sz="1800" b="1" i="0" u="none" strike="noStrike" cap="none" dirty="0">
                <a:solidFill>
                  <a:srgbClr val="000000"/>
                </a:solidFill>
                <a:latin typeface="Arial"/>
                <a:ea typeface="Arial"/>
                <a:cs typeface="Arial"/>
                <a:sym typeface="Arial"/>
              </a:rPr>
              <a:t> model </a:t>
            </a:r>
            <a:r>
              <a:rPr lang="en-US" sz="1800" b="0" i="0" u="none" strike="noStrike" cap="none" dirty="0">
                <a:solidFill>
                  <a:srgbClr val="000000"/>
                </a:solidFill>
                <a:latin typeface="Arial"/>
                <a:ea typeface="Arial"/>
                <a:cs typeface="Arial"/>
                <a:sym typeface="Arial"/>
              </a:rPr>
              <a:t>-  for </a:t>
            </a:r>
            <a:r>
              <a:rPr lang="en-US" sz="1800" b="0" i="0" u="none" strike="noStrike" cap="none" dirty="0" err="1">
                <a:solidFill>
                  <a:srgbClr val="000000"/>
                </a:solidFill>
                <a:latin typeface="Arial"/>
                <a:ea typeface="Arial"/>
                <a:cs typeface="Arial"/>
                <a:sym typeface="Arial"/>
              </a:rPr>
              <a:t>eg</a:t>
            </a:r>
            <a:r>
              <a:rPr lang="en-US" sz="1800" b="0" i="0" u="none" strike="noStrike" cap="none" dirty="0">
                <a:solidFill>
                  <a:srgbClr val="000000"/>
                </a:solidFill>
                <a:latin typeface="Arial"/>
                <a:ea typeface="Arial"/>
                <a:cs typeface="Arial"/>
                <a:sym typeface="Arial"/>
              </a:rPr>
              <a:t> – </a:t>
            </a:r>
            <a:r>
              <a:rPr lang="en-IN" sz="1800" dirty="0" err="1"/>
              <a:t>ibm</a:t>
            </a:r>
            <a:r>
              <a:rPr lang="en-IN" sz="1800" dirty="0"/>
              <a:t>/granite-8b-code-instruct</a:t>
            </a:r>
            <a:r>
              <a:rPr lang="en-US" sz="1800" b="0" i="0" u="none" strike="noStrike" cap="none" dirty="0">
                <a:solidFill>
                  <a:srgbClr val="000000"/>
                </a:solidFill>
                <a:latin typeface="Arial"/>
                <a:ea typeface="Arial"/>
                <a:cs typeface="Arial"/>
                <a:sym typeface="Arial"/>
              </a:rPr>
              <a:t> – For natural language understanding, reasoning, and personalization</a:t>
            </a:r>
            <a:endParaRPr dirty="0"/>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dirty="0">
                <a:solidFill>
                  <a:srgbClr val="000000"/>
                </a:solidFill>
                <a:latin typeface="Arial"/>
                <a:ea typeface="Arial"/>
                <a:cs typeface="Arial"/>
                <a:sym typeface="Arial"/>
              </a:rPr>
              <a:t>IBM Cloud </a:t>
            </a:r>
            <a:r>
              <a:rPr lang="en-US" sz="1800" b="0" i="0" u="none" strike="noStrike" cap="none" dirty="0">
                <a:solidFill>
                  <a:srgbClr val="000000"/>
                </a:solidFill>
                <a:latin typeface="Arial"/>
                <a:ea typeface="Arial"/>
                <a:cs typeface="Arial"/>
                <a:sym typeface="Arial"/>
              </a:rPr>
              <a:t>– It provides the infrastructure to build, deploy, and scale the Agent efficiently. IBM Cloud enables a </a:t>
            </a:r>
            <a:r>
              <a:rPr lang="en-US" sz="1800" b="1" i="0" u="none" strike="noStrike" cap="none" dirty="0">
                <a:solidFill>
                  <a:srgbClr val="000000"/>
                </a:solidFill>
                <a:latin typeface="Arial"/>
                <a:ea typeface="Arial"/>
                <a:cs typeface="Arial"/>
                <a:sym typeface="Arial"/>
              </a:rPr>
              <a:t>reliable, secure, and scalable environment</a:t>
            </a:r>
            <a:r>
              <a:rPr lang="en-US" sz="1800" b="0" i="0" u="none" strike="noStrike" cap="none" dirty="0">
                <a:solidFill>
                  <a:srgbClr val="000000"/>
                </a:solidFill>
                <a:latin typeface="Arial"/>
                <a:ea typeface="Arial"/>
                <a:cs typeface="Arial"/>
                <a:sym typeface="Arial"/>
              </a:rPr>
              <a:t> for deploying the </a:t>
            </a:r>
            <a:r>
              <a:rPr lang="en-US" sz="1800" dirty="0"/>
              <a:t>IoT</a:t>
            </a:r>
            <a:r>
              <a:rPr lang="en-US" sz="1800" b="0" i="0" u="none" strike="noStrike" cap="none" dirty="0">
                <a:solidFill>
                  <a:srgbClr val="000000"/>
                </a:solidFill>
                <a:latin typeface="Arial"/>
                <a:ea typeface="Arial"/>
                <a:cs typeface="Arial"/>
                <a:sym typeface="Arial"/>
              </a:rPr>
              <a:t> Agent.</a:t>
            </a:r>
            <a:endParaRPr dirty="0"/>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dirty="0">
                <a:solidFill>
                  <a:srgbClr val="000000"/>
                </a:solidFill>
                <a:latin typeface="Arial"/>
                <a:ea typeface="Arial"/>
                <a:cs typeface="Arial"/>
                <a:sym typeface="Arial"/>
              </a:rPr>
              <a:t>RAG– </a:t>
            </a:r>
            <a:r>
              <a:rPr lang="en-US" sz="1800" b="0" i="0" u="none" strike="noStrike" cap="none" dirty="0">
                <a:solidFill>
                  <a:srgbClr val="000000"/>
                </a:solidFill>
                <a:latin typeface="Arial"/>
                <a:ea typeface="Arial"/>
                <a:cs typeface="Arial"/>
                <a:sym typeface="Arial"/>
              </a:rPr>
              <a:t>RAG to </a:t>
            </a:r>
            <a:r>
              <a:rPr lang="en-US" sz="1800" b="1" i="0" u="none" strike="noStrike" cap="none" dirty="0">
                <a:solidFill>
                  <a:srgbClr val="000000"/>
                </a:solidFill>
                <a:latin typeface="Arial"/>
                <a:ea typeface="Arial"/>
                <a:cs typeface="Arial"/>
                <a:sym typeface="Arial"/>
              </a:rPr>
              <a:t>fetch real data first, then generate intelligent answers</a:t>
            </a:r>
            <a:r>
              <a:rPr lang="en-US" sz="1800" b="0" i="0" u="none" strike="noStrike" cap="none" dirty="0">
                <a:solidFill>
                  <a:srgbClr val="000000"/>
                </a:solidFill>
                <a:latin typeface="Arial"/>
                <a:ea typeface="Arial"/>
                <a:cs typeface="Arial"/>
                <a:sym typeface="Arial"/>
              </a:rPr>
              <a:t>, making the </a:t>
            </a:r>
            <a:r>
              <a:rPr lang="en-US" sz="1800" dirty="0"/>
              <a:t>IoT</a:t>
            </a:r>
            <a:r>
              <a:rPr lang="en-US" sz="1800" b="0" i="0" u="none" strike="noStrike" cap="none" dirty="0">
                <a:solidFill>
                  <a:srgbClr val="000000"/>
                </a:solidFill>
                <a:latin typeface="Arial"/>
                <a:ea typeface="Arial"/>
                <a:cs typeface="Arial"/>
                <a:sym typeface="Arial"/>
              </a:rPr>
              <a:t> Agent more trustworthy and effective.</a:t>
            </a:r>
            <a:endParaRPr dirty="0"/>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dirty="0">
                <a:solidFill>
                  <a:srgbClr val="000000"/>
                </a:solidFill>
                <a:latin typeface="Arial"/>
                <a:ea typeface="Arial"/>
                <a:cs typeface="Arial"/>
                <a:sym typeface="Arial"/>
              </a:rPr>
              <a:t>IBM Watsonx.ai - </a:t>
            </a:r>
            <a:r>
              <a:rPr lang="en-US" sz="1800" b="0" i="0" u="none" strike="noStrike" cap="none" dirty="0">
                <a:solidFill>
                  <a:srgbClr val="000000"/>
                </a:solidFill>
                <a:latin typeface="Arial"/>
                <a:ea typeface="Arial"/>
                <a:cs typeface="Arial"/>
                <a:sym typeface="Arial"/>
              </a:rPr>
              <a:t>For model deployment, embeddings, and AI governance</a:t>
            </a:r>
            <a:endParaRPr dirty="0"/>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40"/>
          <p:cNvSpPr/>
          <p:nvPr/>
        </p:nvSpPr>
        <p:spPr>
          <a:xfrm>
            <a:off x="793192" y="34156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400" b="1" i="0" u="none" strike="noStrike" cap="none">
                <a:solidFill>
                  <a:srgbClr val="000000"/>
                </a:solidFill>
                <a:latin typeface="Arial"/>
                <a:ea typeface="Arial"/>
                <a:cs typeface="Arial"/>
                <a:sym typeface="Arial"/>
              </a:rPr>
              <a:t>Token Usage </a:t>
            </a:r>
            <a:endParaRPr sz="2400" b="1" i="0" u="none" strike="noStrike" cap="none">
              <a:solidFill>
                <a:srgbClr val="000000"/>
              </a:solidFill>
              <a:latin typeface="Arial"/>
              <a:ea typeface="Arial"/>
              <a:cs typeface="Arial"/>
              <a:sym typeface="Arial"/>
            </a:endParaRPr>
          </a:p>
        </p:txBody>
      </p:sp>
      <p:sp>
        <p:nvSpPr>
          <p:cNvPr id="150" name="Google Shape;150;p40"/>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51" name="Google Shape;151;p40"/>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52" name="Google Shape;152;p40"/>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55" name="Google Shape;155;p40"/>
          <p:cNvSpPr txBox="1"/>
          <p:nvPr/>
        </p:nvSpPr>
        <p:spPr>
          <a:xfrm>
            <a:off x="897392" y="1042133"/>
            <a:ext cx="437117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11,761 token are used</a:t>
            </a:r>
            <a:endParaRPr/>
          </a:p>
        </p:txBody>
      </p:sp>
      <p:pic>
        <p:nvPicPr>
          <p:cNvPr id="3" name="Picture 2">
            <a:extLst>
              <a:ext uri="{FF2B5EF4-FFF2-40B4-BE49-F238E27FC236}">
                <a16:creationId xmlns:a16="http://schemas.microsoft.com/office/drawing/2014/main" id="{3A648D1C-A611-DC94-9954-62C0A0B333BA}"/>
              </a:ext>
            </a:extLst>
          </p:cNvPr>
          <p:cNvPicPr>
            <a:picLocks noChangeAspect="1"/>
          </p:cNvPicPr>
          <p:nvPr/>
        </p:nvPicPr>
        <p:blipFill>
          <a:blip r:embed="rId3"/>
          <a:stretch>
            <a:fillRect/>
          </a:stretch>
        </p:blipFill>
        <p:spPr>
          <a:xfrm>
            <a:off x="609362" y="1042133"/>
            <a:ext cx="10973276" cy="499880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41"/>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Novelty and Uniqueness</a:t>
            </a:r>
            <a:endParaRPr sz="2400" b="1" i="0" u="none" strike="noStrike" cap="none">
              <a:solidFill>
                <a:srgbClr val="000000"/>
              </a:solidFill>
              <a:latin typeface="Arial"/>
              <a:ea typeface="Arial"/>
              <a:cs typeface="Arial"/>
              <a:sym typeface="Arial"/>
            </a:endParaRPr>
          </a:p>
        </p:txBody>
      </p:sp>
      <p:sp>
        <p:nvSpPr>
          <p:cNvPr id="161" name="Google Shape;161;p41"/>
          <p:cNvSpPr txBox="1"/>
          <p:nvPr/>
        </p:nvSpPr>
        <p:spPr>
          <a:xfrm>
            <a:off x="688750" y="1197175"/>
            <a:ext cx="11301984" cy="5078273"/>
          </a:xfrm>
          <a:prstGeom prst="rect">
            <a:avLst/>
          </a:prstGeom>
          <a:noFill/>
          <a:ln>
            <a:noFill/>
          </a:ln>
        </p:spPr>
        <p:txBody>
          <a:bodyPr spcFirstLastPara="1" wrap="square" lIns="91425" tIns="45700" rIns="91425" bIns="45700" anchor="t" anchorCtr="0">
            <a:spAutoFit/>
          </a:bodyPr>
          <a:lstStyle/>
          <a:p>
            <a:pPr lvl="0" algn="just"/>
            <a:r>
              <a:rPr lang="en-IN" sz="1800" dirty="0"/>
              <a:t>The proposed system introduces an Agentic AI-based multi-agent troubleshooting framework that autonomously diagnoses IoT device issues, retrieves knowledge from technical documentation, performs root-cause analysis, and provides explainable, personalized solutions through natural language interaction.</a:t>
            </a:r>
          </a:p>
          <a:p>
            <a:pPr lvl="0" algn="just"/>
            <a:endParaRPr lang="en-IN" sz="1800" b="0" i="0" u="none" strike="noStrike" cap="none" dirty="0">
              <a:solidFill>
                <a:srgbClr val="000000"/>
              </a:solidFill>
              <a:latin typeface="Arial"/>
              <a:ea typeface="Arial"/>
              <a:cs typeface="Arial"/>
              <a:sym typeface="Arial"/>
            </a:endParaRPr>
          </a:p>
          <a:p>
            <a:pPr lvl="0" algn="just"/>
            <a:r>
              <a:rPr lang="en-IN" sz="1800" dirty="0"/>
              <a:t>The novelty of your project lies in the fact that it is not just a chatbot—it is an </a:t>
            </a:r>
            <a:r>
              <a:rPr lang="en-IN" sz="1800" b="1" dirty="0"/>
              <a:t>Agentic AI-powered autonomous troubleshooting assistant for IoT devices</a:t>
            </a:r>
            <a:r>
              <a:rPr lang="en-IN" sz="1800" dirty="0"/>
              <a:t>.</a:t>
            </a:r>
          </a:p>
          <a:p>
            <a:pPr marL="342900" lvl="0" indent="-342900" algn="just">
              <a:buAutoNum type="arabicPeriod"/>
            </a:pPr>
            <a:r>
              <a:rPr lang="en-IN" sz="1800" b="1" dirty="0"/>
              <a:t>Agentic AI-Based Troubleshooting Instead of Traditional Chatbot Responses</a:t>
            </a:r>
            <a:r>
              <a:rPr lang="en-IN" sz="1800" dirty="0"/>
              <a:t> : The chatbot behaves like a </a:t>
            </a:r>
            <a:r>
              <a:rPr lang="en-IN" sz="1800" b="1" dirty="0"/>
              <a:t>virtual IoT support engineer</a:t>
            </a:r>
            <a:r>
              <a:rPr lang="en-IN" sz="1800" dirty="0"/>
              <a:t> rather than a simple question-answering system.</a:t>
            </a:r>
            <a:endParaRPr lang="en-IN" sz="1800" b="0" i="0" u="none" strike="noStrike" cap="none" dirty="0">
              <a:solidFill>
                <a:srgbClr val="000000"/>
              </a:solidFill>
              <a:latin typeface="Arial"/>
              <a:ea typeface="Arial"/>
              <a:cs typeface="Arial"/>
              <a:sym typeface="Arial"/>
            </a:endParaRPr>
          </a:p>
          <a:p>
            <a:pPr marL="342900" lvl="0" indent="-342900" algn="just">
              <a:buAutoNum type="arabicPeriod"/>
            </a:pPr>
            <a:r>
              <a:rPr lang="en-IN" sz="1800" b="1" dirty="0"/>
              <a:t>Multi-Agent Architecture </a:t>
            </a:r>
            <a:r>
              <a:rPr lang="en-IN" sz="1800" dirty="0"/>
              <a:t>: Each agent has a dedicated role, making the system more intelligent, modular, and scalable.</a:t>
            </a:r>
          </a:p>
          <a:p>
            <a:pPr marL="342900" lvl="0" indent="-342900" algn="just">
              <a:buAutoNum type="arabicPeriod"/>
            </a:pPr>
            <a:r>
              <a:rPr lang="en-IN" sz="1800" b="1" dirty="0"/>
              <a:t>Intelligent Root Cause Analysis </a:t>
            </a:r>
            <a:r>
              <a:rPr lang="en-IN" sz="1800" dirty="0"/>
              <a:t>: The system performs AI-driven reasoning similar to a human technician.</a:t>
            </a:r>
          </a:p>
          <a:p>
            <a:pPr marL="342900" lvl="0" indent="-342900" algn="just">
              <a:buAutoNum type="arabicPeriod"/>
            </a:pPr>
            <a:r>
              <a:rPr lang="en-IN" sz="1800" b="1" dirty="0"/>
              <a:t>Dynamic and Personalized Troubleshooting</a:t>
            </a:r>
            <a:r>
              <a:rPr lang="en-IN" sz="1800" dirty="0"/>
              <a:t> : The troubleshooting process becomes adaptive and interactive.</a:t>
            </a:r>
          </a:p>
          <a:p>
            <a:pPr marL="342900" lvl="0" indent="-342900" algn="just">
              <a:buAutoNum type="arabicPeriod"/>
            </a:pPr>
            <a:r>
              <a:rPr lang="en-IN" sz="1800" b="1" dirty="0"/>
              <a:t>Integration of </a:t>
            </a:r>
            <a:r>
              <a:rPr lang="en-IN" sz="1800" b="1" dirty="0" err="1"/>
              <a:t>LangFlow</a:t>
            </a:r>
            <a:r>
              <a:rPr lang="en-IN" sz="1800" b="1" dirty="0"/>
              <a:t> + IBM watsonx.ai + Granite Models</a:t>
            </a:r>
            <a:r>
              <a:rPr lang="en-IN" sz="1800" dirty="0"/>
              <a:t> : Demonstrates a modern enterprise-grade Agentic AI workflow.</a:t>
            </a:r>
          </a:p>
          <a:p>
            <a:pPr marL="342900" lvl="0" indent="-342900" algn="just">
              <a:buAutoNum type="arabicPeriod"/>
            </a:pPr>
            <a:r>
              <a:rPr lang="en-IN" sz="1800" b="1" dirty="0"/>
              <a:t>Potential for Predictive Maintenance (Future)</a:t>
            </a:r>
            <a:r>
              <a:rPr lang="en-IN" sz="1800" dirty="0"/>
              <a:t> : Moves beyond troubleshooting into proactive device maintenance.</a:t>
            </a:r>
            <a:endParaRPr lang="en-IN" sz="1800" b="0" i="0" u="none" strike="noStrike" cap="none" dirty="0">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42"/>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Git Hub Link</a:t>
            </a:r>
            <a:endParaRPr sz="2400" b="1" i="0" u="none" strike="noStrike" cap="none">
              <a:solidFill>
                <a:srgbClr val="000000"/>
              </a:solidFill>
              <a:latin typeface="Arial"/>
              <a:ea typeface="Arial"/>
              <a:cs typeface="Arial"/>
              <a:sym typeface="Arial"/>
            </a:endParaRPr>
          </a:p>
        </p:txBody>
      </p:sp>
      <p:sp>
        <p:nvSpPr>
          <p:cNvPr id="167" name="Google Shape;167;p42"/>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b="0" i="0" u="none" strike="noStrike" cap="none" dirty="0">
                <a:solidFill>
                  <a:srgbClr val="2B3541"/>
                </a:solidFill>
                <a:latin typeface="Times New Roman"/>
                <a:ea typeface="Times New Roman"/>
                <a:cs typeface="Times New Roman"/>
                <a:sym typeface="Times New Roman"/>
              </a:rPr>
              <a:t>· </a:t>
            </a:r>
            <a:endParaRPr sz="1850" b="0" i="0" u="none" strike="noStrike" cap="none" dirty="0">
              <a:solidFill>
                <a:srgbClr val="000000"/>
              </a:solidFill>
              <a:latin typeface="Times New Roman"/>
              <a:ea typeface="Times New Roman"/>
              <a:cs typeface="Times New Roman"/>
              <a:sym typeface="Times New Roman"/>
            </a:endParaRPr>
          </a:p>
        </p:txBody>
      </p:sp>
      <p:sp>
        <p:nvSpPr>
          <p:cNvPr id="168" name="Google Shape;168;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9" name="Google Shape;169;p42"/>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0" name="Google Shape;170;p42"/>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E5966585-D184-8F6D-C0EB-FA2716662A60}"/>
              </a:ext>
            </a:extLst>
          </p:cNvPr>
          <p:cNvSpPr txBox="1"/>
          <p:nvPr/>
        </p:nvSpPr>
        <p:spPr>
          <a:xfrm>
            <a:off x="1218724" y="1240057"/>
            <a:ext cx="6096000" cy="307777"/>
          </a:xfrm>
          <a:prstGeom prst="rect">
            <a:avLst/>
          </a:prstGeom>
          <a:noFill/>
        </p:spPr>
        <p:txBody>
          <a:bodyPr wrap="square">
            <a:spAutoFit/>
          </a:bodyPr>
          <a:lstStyle/>
          <a:p>
            <a:r>
              <a:rPr lang="en-IN" dirty="0"/>
              <a:t>https://github.com/nitin242280-prog/NRP-IBM-Project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43"/>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Future Scope </a:t>
            </a:r>
            <a:endParaRPr sz="2400" b="1" i="0" u="none" strike="noStrike" cap="none">
              <a:solidFill>
                <a:srgbClr val="000000"/>
              </a:solidFill>
              <a:latin typeface="Arial"/>
              <a:ea typeface="Arial"/>
              <a:cs typeface="Arial"/>
              <a:sym typeface="Arial"/>
            </a:endParaRPr>
          </a:p>
        </p:txBody>
      </p:sp>
      <p:sp>
        <p:nvSpPr>
          <p:cNvPr id="176" name="Google Shape;176;p43"/>
          <p:cNvSpPr/>
          <p:nvPr/>
        </p:nvSpPr>
        <p:spPr>
          <a:xfrm>
            <a:off x="1218724" y="936108"/>
            <a:ext cx="10726994" cy="5700666"/>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b="0" i="0" u="none" strike="noStrike" cap="none" dirty="0">
                <a:solidFill>
                  <a:srgbClr val="000000"/>
                </a:solidFill>
                <a:latin typeface="Times New Roman"/>
                <a:ea typeface="Times New Roman"/>
                <a:cs typeface="Times New Roman"/>
                <a:sym typeface="Times New Roman"/>
              </a:rPr>
              <a:t>Future Scope is to </a:t>
            </a:r>
            <a:r>
              <a:rPr lang="en-IN" sz="1850" dirty="0">
                <a:latin typeface="Times New Roman"/>
                <a:cs typeface="Times New Roman"/>
              </a:rPr>
              <a:t>Transform the chatbot into an autonomous Agentic AI-powered IoT support platform capable of monitoring, diagnosing, predicting, and resolving IoT device issues with minimal human intervention.</a:t>
            </a:r>
          </a:p>
          <a:p>
            <a:pPr marL="457200" lvl="0" indent="-457200">
              <a:lnSpc>
                <a:spcPct val="162162"/>
              </a:lnSpc>
              <a:buClr>
                <a:srgbClr val="2B3541"/>
              </a:buClr>
              <a:buSzPts val="1850"/>
              <a:buAutoNum type="arabicPeriod"/>
            </a:pPr>
            <a:r>
              <a:rPr lang="en-IN" sz="2000" dirty="0"/>
              <a:t>Self-Healing IoT Systems: </a:t>
            </a:r>
            <a:r>
              <a:rPr lang="en-US" sz="1850" dirty="0">
                <a:latin typeface="Times New Roman"/>
                <a:cs typeface="Times New Roman"/>
              </a:rPr>
              <a:t>Future Agentic AI systems can automatically Restart services, Reconnect devices, Reset network settings, Apply configuration fixes without user intervention.</a:t>
            </a:r>
          </a:p>
          <a:p>
            <a:pPr marL="457200" lvl="0" indent="-457200">
              <a:lnSpc>
                <a:spcPct val="162162"/>
              </a:lnSpc>
              <a:buClr>
                <a:srgbClr val="2B3541"/>
              </a:buClr>
              <a:buSzPts val="1850"/>
              <a:buAutoNum type="arabicPeriod"/>
            </a:pPr>
            <a:r>
              <a:rPr lang="en-IN" sz="2000" dirty="0"/>
              <a:t>Security and Vulnerability Detection: </a:t>
            </a:r>
            <a:r>
              <a:rPr lang="en-US" sz="1850" dirty="0">
                <a:latin typeface="Times New Roman"/>
                <a:cs typeface="Times New Roman"/>
              </a:rPr>
              <a:t>Future agents can identify Weak passwords, Open ports, Firmware vulnerabilities and also Unauthorized access attempts.</a:t>
            </a:r>
          </a:p>
          <a:p>
            <a:pPr marL="457200" lvl="0" indent="-457200">
              <a:lnSpc>
                <a:spcPct val="162162"/>
              </a:lnSpc>
              <a:buClr>
                <a:srgbClr val="2B3541"/>
              </a:buClr>
              <a:buSzPts val="1850"/>
              <a:buAutoNum type="arabicPeriod"/>
            </a:pPr>
            <a:r>
              <a:rPr lang="en-IN" sz="2000" dirty="0"/>
              <a:t>Multi-Language Support: </a:t>
            </a:r>
            <a:r>
              <a:rPr lang="en-US" sz="1850" dirty="0">
                <a:latin typeface="Times New Roman"/>
                <a:cs typeface="Times New Roman"/>
              </a:rPr>
              <a:t>Current system may support only English. Future enhancement in Hindi, Gujarati and other regional languages.</a:t>
            </a:r>
          </a:p>
          <a:p>
            <a:pPr marL="457200" lvl="0" indent="-457200">
              <a:lnSpc>
                <a:spcPct val="162162"/>
              </a:lnSpc>
              <a:buClr>
                <a:srgbClr val="2B3541"/>
              </a:buClr>
              <a:buSzPts val="1850"/>
              <a:buAutoNum type="arabicPeriod"/>
            </a:pPr>
            <a:r>
              <a:rPr lang="en-IN" sz="2000" dirty="0"/>
              <a:t>Image-Based Device Diagnosis: </a:t>
            </a:r>
            <a:r>
              <a:rPr lang="en-US" sz="1850" dirty="0">
                <a:latin typeface="Times New Roman"/>
                <a:cs typeface="Times New Roman"/>
              </a:rPr>
              <a:t>Users can upload images of Sensors, Smart devices, Error displays, Circuit boards. The AI can analyze Physical damage, Error indicators and Wiring issues</a:t>
            </a:r>
          </a:p>
          <a:p>
            <a:pPr marL="457200" lvl="0" indent="-457200">
              <a:lnSpc>
                <a:spcPct val="162162"/>
              </a:lnSpc>
              <a:buClr>
                <a:srgbClr val="2B3541"/>
              </a:buClr>
              <a:buSzPts val="1850"/>
              <a:buAutoNum type="arabicPeriod"/>
            </a:pPr>
            <a:r>
              <a:rPr lang="en-IN" sz="2000" dirty="0"/>
              <a:t>Automatic Firmware Management : </a:t>
            </a:r>
            <a:r>
              <a:rPr lang="en-US" sz="1850" dirty="0">
                <a:latin typeface="Times New Roman"/>
                <a:cs typeface="Times New Roman"/>
              </a:rPr>
              <a:t>Future versions can Detect outdated firmware. Check manufacturer updates. Recommend firmware upgrades. Assist users through update procedures.</a:t>
            </a:r>
          </a:p>
        </p:txBody>
      </p:sp>
      <p:sp>
        <p:nvSpPr>
          <p:cNvPr id="177" name="Google Shape;177;p43"/>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8" name="Google Shape;178;p43"/>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9" name="Google Shape;179;p43"/>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7" name="Google Shape;187;p43"/>
          <p:cNvSpPr txBox="1"/>
          <p:nvPr/>
        </p:nvSpPr>
        <p:spPr>
          <a:xfrm>
            <a:off x="327949" y="207380"/>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87C0370D-CCDB-1469-66C4-794D1FF253AD}"/>
              </a:ext>
            </a:extLst>
          </p:cNvPr>
          <p:cNvPicPr>
            <a:picLocks noChangeAspect="1"/>
          </p:cNvPicPr>
          <p:nvPr/>
        </p:nvPicPr>
        <p:blipFill>
          <a:blip r:embed="rId3"/>
          <a:stretch>
            <a:fillRect/>
          </a:stretch>
        </p:blipFill>
        <p:spPr>
          <a:xfrm>
            <a:off x="764068" y="1621709"/>
            <a:ext cx="5164784" cy="3894187"/>
          </a:xfrm>
          <a:prstGeom prst="rect">
            <a:avLst/>
          </a:prstGeom>
        </p:spPr>
      </p:pic>
      <p:pic>
        <p:nvPicPr>
          <p:cNvPr id="5" name="Picture 4">
            <a:extLst>
              <a:ext uri="{FF2B5EF4-FFF2-40B4-BE49-F238E27FC236}">
                <a16:creationId xmlns:a16="http://schemas.microsoft.com/office/drawing/2014/main" id="{849647E5-1D1C-1174-615D-75116F180D16}"/>
              </a:ext>
            </a:extLst>
          </p:cNvPr>
          <p:cNvPicPr>
            <a:picLocks noChangeAspect="1"/>
          </p:cNvPicPr>
          <p:nvPr/>
        </p:nvPicPr>
        <p:blipFill>
          <a:blip r:embed="rId4"/>
          <a:stretch>
            <a:fillRect/>
          </a:stretch>
        </p:blipFill>
        <p:spPr>
          <a:xfrm>
            <a:off x="6263150" y="1621709"/>
            <a:ext cx="5173458" cy="389418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5">
          <a:extLst>
            <a:ext uri="{FF2B5EF4-FFF2-40B4-BE49-F238E27FC236}">
              <a16:creationId xmlns:a16="http://schemas.microsoft.com/office/drawing/2014/main" id="{D77C4731-6B91-DEA2-D699-E223F6596A03}"/>
            </a:ext>
          </a:extLst>
        </p:cNvPr>
        <p:cNvGrpSpPr/>
        <p:nvPr/>
      </p:nvGrpSpPr>
      <p:grpSpPr>
        <a:xfrm>
          <a:off x="0" y="0"/>
          <a:ext cx="0" cy="0"/>
          <a:chOff x="0" y="0"/>
          <a:chExt cx="0" cy="0"/>
        </a:xfrm>
      </p:grpSpPr>
      <p:sp>
        <p:nvSpPr>
          <p:cNvPr id="187" name="Google Shape;187;p43">
            <a:extLst>
              <a:ext uri="{FF2B5EF4-FFF2-40B4-BE49-F238E27FC236}">
                <a16:creationId xmlns:a16="http://schemas.microsoft.com/office/drawing/2014/main" id="{989AADCD-7B86-38E0-2DA3-BE51D80A683A}"/>
              </a:ext>
            </a:extLst>
          </p:cNvPr>
          <p:cNvSpPr txBox="1"/>
          <p:nvPr/>
        </p:nvSpPr>
        <p:spPr>
          <a:xfrm>
            <a:off x="327949" y="207380"/>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4" name="Picture 3">
            <a:extLst>
              <a:ext uri="{FF2B5EF4-FFF2-40B4-BE49-F238E27FC236}">
                <a16:creationId xmlns:a16="http://schemas.microsoft.com/office/drawing/2014/main" id="{3F1572AE-FD39-39E6-7AC2-86ADDE896E3C}"/>
              </a:ext>
            </a:extLst>
          </p:cNvPr>
          <p:cNvPicPr>
            <a:picLocks noChangeAspect="1"/>
          </p:cNvPicPr>
          <p:nvPr/>
        </p:nvPicPr>
        <p:blipFill>
          <a:blip r:embed="rId3"/>
          <a:stretch>
            <a:fillRect/>
          </a:stretch>
        </p:blipFill>
        <p:spPr>
          <a:xfrm>
            <a:off x="2585038" y="993057"/>
            <a:ext cx="6741248" cy="5061573"/>
          </a:xfrm>
          <a:prstGeom prst="rect">
            <a:avLst/>
          </a:prstGeom>
        </p:spPr>
      </p:pic>
    </p:spTree>
    <p:extLst>
      <p:ext uri="{BB962C8B-B14F-4D97-AF65-F5344CB8AC3E}">
        <p14:creationId xmlns:p14="http://schemas.microsoft.com/office/powerpoint/2010/main" val="22310696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4" name="Google Shape;194;p44"/>
          <p:cNvSpPr txBox="1"/>
          <p:nvPr/>
        </p:nvSpPr>
        <p:spPr>
          <a:xfrm>
            <a:off x="176696" y="226391"/>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r>
              <a:rPr lang="en-US" sz="2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DD3B9C95-3A86-A711-88E0-271EE7E145DC}"/>
              </a:ext>
            </a:extLst>
          </p:cNvPr>
          <p:cNvPicPr>
            <a:picLocks noChangeAspect="1"/>
          </p:cNvPicPr>
          <p:nvPr/>
        </p:nvPicPr>
        <p:blipFill>
          <a:blip r:embed="rId3"/>
          <a:stretch>
            <a:fillRect/>
          </a:stretch>
        </p:blipFill>
        <p:spPr>
          <a:xfrm>
            <a:off x="2138352" y="1071591"/>
            <a:ext cx="7915296" cy="489414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pic>
        <p:nvPicPr>
          <p:cNvPr id="184" name="Google Shape;184;p20"/>
          <p:cNvPicPr preferRelativeResize="0"/>
          <p:nvPr/>
        </p:nvPicPr>
        <p:blipFill rotWithShape="1">
          <a:blip r:embed="rId3">
            <a:alphaModFix/>
          </a:blip>
          <a:srcRect/>
          <a:stretch/>
        </p:blipFill>
        <p:spPr>
          <a:xfrm>
            <a:off x="0" y="1973993"/>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578</TotalTime>
  <Words>1330</Words>
  <Application>Microsoft Office PowerPoint</Application>
  <PresentationFormat>Widescreen</PresentationFormat>
  <Paragraphs>153</Paragraphs>
  <Slides>19</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Manda Anirudh</dc:creator>
  <cp:lastModifiedBy>Patel Nitin</cp:lastModifiedBy>
  <cp:revision>22</cp:revision>
  <dcterms:created xsi:type="dcterms:W3CDTF">2025-07-08T05:06:56Z</dcterms:created>
  <dcterms:modified xsi:type="dcterms:W3CDTF">2026-06-26T02:50:28Z</dcterms:modified>
</cp:coreProperties>
</file>